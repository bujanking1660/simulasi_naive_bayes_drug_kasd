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74" r:id="rId4"/>
    <p:sldId id="275" r:id="rId5"/>
    <p:sldId id="258" r:id="rId6"/>
    <p:sldId id="259" r:id="rId7"/>
    <p:sldId id="260" r:id="rId8"/>
    <p:sldId id="261" r:id="rId9"/>
    <p:sldId id="263" r:id="rId10"/>
    <p:sldId id="264" r:id="rId11"/>
    <p:sldId id="267" r:id="rId12"/>
    <p:sldId id="265" r:id="rId13"/>
    <p:sldId id="268" r:id="rId14"/>
    <p:sldId id="315" r:id="rId15"/>
    <p:sldId id="294" r:id="rId16"/>
    <p:sldId id="282" r:id="rId17"/>
    <p:sldId id="270" r:id="rId18"/>
    <p:sldId id="285" r:id="rId19"/>
    <p:sldId id="284" r:id="rId20"/>
    <p:sldId id="301" r:id="rId21"/>
    <p:sldId id="296" r:id="rId22"/>
    <p:sldId id="311" r:id="rId23"/>
    <p:sldId id="298" r:id="rId24"/>
    <p:sldId id="308" r:id="rId25"/>
    <p:sldId id="295" r:id="rId26"/>
    <p:sldId id="313" r:id="rId27"/>
    <p:sldId id="314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5D72C-0122-48DB-A4C3-535EA71BF8EF}" type="doc">
      <dgm:prSet loTypeId="urn:microsoft.com/office/officeart/2005/8/layout/arrow5" loCatId="process" qsTypeId="urn:microsoft.com/office/officeart/2005/8/quickstyle/3d2#1" qsCatId="3D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87E593B0-6D4E-43C1-92D8-F8B1DCE0139D}">
      <dgm:prSet phldrT="[Text]"/>
      <dgm:spPr/>
      <dgm:t>
        <a:bodyPr/>
        <a:lstStyle/>
        <a:p>
          <a:r>
            <a:rPr lang="en-US" b="1">
              <a:solidFill>
                <a:schemeClr val="bg2">
                  <a:lumMod val="25000"/>
                </a:schemeClr>
              </a:solidFill>
            </a:rPr>
            <a:t>UNCERTAINTY</a:t>
          </a:r>
        </a:p>
      </dgm:t>
    </dgm:pt>
    <dgm:pt modelId="{F9201642-E080-4838-97B0-2D2BA35FF7D0}" type="parTrans" cxnId="{4F4372BC-D939-45E3-8575-70B2133A467A}">
      <dgm:prSet/>
      <dgm:spPr/>
      <dgm:t>
        <a:bodyPr/>
        <a:lstStyle/>
        <a:p>
          <a:endParaRPr lang="en-US" b="1">
            <a:solidFill>
              <a:schemeClr val="bg2">
                <a:lumMod val="25000"/>
              </a:schemeClr>
            </a:solidFill>
          </a:endParaRPr>
        </a:p>
      </dgm:t>
    </dgm:pt>
    <dgm:pt modelId="{225E0090-3B73-4385-910C-1D67A66F7102}" type="sibTrans" cxnId="{4F4372BC-D939-45E3-8575-70B2133A467A}">
      <dgm:prSet/>
      <dgm:spPr/>
      <dgm:t>
        <a:bodyPr/>
        <a:lstStyle/>
        <a:p>
          <a:endParaRPr lang="en-US" b="1">
            <a:solidFill>
              <a:schemeClr val="bg2">
                <a:lumMod val="25000"/>
              </a:schemeClr>
            </a:solidFill>
          </a:endParaRPr>
        </a:p>
      </dgm:t>
    </dgm:pt>
    <dgm:pt modelId="{40889B2A-D9CD-40AE-9BF9-104249BBC6ED}">
      <dgm:prSet phldrT="[Text]"/>
      <dgm:spPr/>
      <dgm:t>
        <a:bodyPr/>
        <a:lstStyle/>
        <a:p>
          <a:r>
            <a:rPr lang="en-US" b="1">
              <a:solidFill>
                <a:schemeClr val="bg2">
                  <a:lumMod val="25000"/>
                </a:schemeClr>
              </a:solidFill>
            </a:rPr>
            <a:t>UNEXACT KNOWLEDGE</a:t>
          </a:r>
        </a:p>
      </dgm:t>
    </dgm:pt>
    <dgm:pt modelId="{7A570B9E-F6F5-48AA-A1C4-64519BD9E1AC}" type="parTrans" cxnId="{17195BFE-5730-4747-A475-D9C6A9546029}">
      <dgm:prSet/>
      <dgm:spPr/>
      <dgm:t>
        <a:bodyPr/>
        <a:lstStyle/>
        <a:p>
          <a:endParaRPr lang="en-US" b="1">
            <a:solidFill>
              <a:schemeClr val="bg2">
                <a:lumMod val="25000"/>
              </a:schemeClr>
            </a:solidFill>
          </a:endParaRPr>
        </a:p>
      </dgm:t>
    </dgm:pt>
    <dgm:pt modelId="{58B1A240-D92A-4299-9755-98B54C6CC397}" type="sibTrans" cxnId="{17195BFE-5730-4747-A475-D9C6A9546029}">
      <dgm:prSet/>
      <dgm:spPr/>
      <dgm:t>
        <a:bodyPr/>
        <a:lstStyle/>
        <a:p>
          <a:endParaRPr lang="en-US" b="1">
            <a:solidFill>
              <a:schemeClr val="bg2">
                <a:lumMod val="25000"/>
              </a:schemeClr>
            </a:solidFill>
          </a:endParaRPr>
        </a:p>
      </dgm:t>
    </dgm:pt>
    <dgm:pt modelId="{4D591B9B-CB07-4FF7-A5E8-CEDBDF297EC4}" type="pres">
      <dgm:prSet presAssocID="{2FD5D72C-0122-48DB-A4C3-535EA71BF8EF}" presName="diagram" presStyleCnt="0">
        <dgm:presLayoutVars>
          <dgm:dir/>
          <dgm:resizeHandles val="exact"/>
        </dgm:presLayoutVars>
      </dgm:prSet>
      <dgm:spPr/>
    </dgm:pt>
    <dgm:pt modelId="{0D7FA8C3-B9FE-484E-BA5F-86F0026409A2}" type="pres">
      <dgm:prSet presAssocID="{87E593B0-6D4E-43C1-92D8-F8B1DCE0139D}" presName="arrow" presStyleLbl="node1" presStyleIdx="0" presStyleCnt="2" custRadScaleRad="100048" custRadScaleInc="545">
        <dgm:presLayoutVars>
          <dgm:bulletEnabled val="1"/>
        </dgm:presLayoutVars>
      </dgm:prSet>
      <dgm:spPr/>
    </dgm:pt>
    <dgm:pt modelId="{1085A976-96CB-474D-8A35-1BCE8C0FD8DC}" type="pres">
      <dgm:prSet presAssocID="{40889B2A-D9CD-40AE-9BF9-104249BBC6ED}" presName="arrow" presStyleLbl="node1" presStyleIdx="1" presStyleCnt="2">
        <dgm:presLayoutVars>
          <dgm:bulletEnabled val="1"/>
        </dgm:presLayoutVars>
      </dgm:prSet>
      <dgm:spPr/>
    </dgm:pt>
  </dgm:ptLst>
  <dgm:cxnLst>
    <dgm:cxn modelId="{E7ADCB1A-C411-4AAC-8B31-D69F62C36E3D}" type="presOf" srcId="{87E593B0-6D4E-43C1-92D8-F8B1DCE0139D}" destId="{0D7FA8C3-B9FE-484E-BA5F-86F0026409A2}" srcOrd="0" destOrd="0" presId="urn:microsoft.com/office/officeart/2005/8/layout/arrow5"/>
    <dgm:cxn modelId="{7D14B48F-D95D-4DEC-8F42-4E827A748ED3}" type="presOf" srcId="{40889B2A-D9CD-40AE-9BF9-104249BBC6ED}" destId="{1085A976-96CB-474D-8A35-1BCE8C0FD8DC}" srcOrd="0" destOrd="0" presId="urn:microsoft.com/office/officeart/2005/8/layout/arrow5"/>
    <dgm:cxn modelId="{7051DD9C-956D-4DC7-AAA9-8689B667B4DE}" type="presOf" srcId="{2FD5D72C-0122-48DB-A4C3-535EA71BF8EF}" destId="{4D591B9B-CB07-4FF7-A5E8-CEDBDF297EC4}" srcOrd="0" destOrd="0" presId="urn:microsoft.com/office/officeart/2005/8/layout/arrow5"/>
    <dgm:cxn modelId="{4F4372BC-D939-45E3-8575-70B2133A467A}" srcId="{2FD5D72C-0122-48DB-A4C3-535EA71BF8EF}" destId="{87E593B0-6D4E-43C1-92D8-F8B1DCE0139D}" srcOrd="0" destOrd="0" parTransId="{F9201642-E080-4838-97B0-2D2BA35FF7D0}" sibTransId="{225E0090-3B73-4385-910C-1D67A66F7102}"/>
    <dgm:cxn modelId="{17195BFE-5730-4747-A475-D9C6A9546029}" srcId="{2FD5D72C-0122-48DB-A4C3-535EA71BF8EF}" destId="{40889B2A-D9CD-40AE-9BF9-104249BBC6ED}" srcOrd="1" destOrd="0" parTransId="{7A570B9E-F6F5-48AA-A1C4-64519BD9E1AC}" sibTransId="{58B1A240-D92A-4299-9755-98B54C6CC397}"/>
    <dgm:cxn modelId="{1322C68B-4EBC-48F3-8468-2D7CE92EEFFF}" type="presParOf" srcId="{4D591B9B-CB07-4FF7-A5E8-CEDBDF297EC4}" destId="{0D7FA8C3-B9FE-484E-BA5F-86F0026409A2}" srcOrd="0" destOrd="0" presId="urn:microsoft.com/office/officeart/2005/8/layout/arrow5"/>
    <dgm:cxn modelId="{6103C78C-517B-486D-AB07-4D51CAA17903}" type="presParOf" srcId="{4D591B9B-CB07-4FF7-A5E8-CEDBDF297EC4}" destId="{1085A976-96CB-474D-8A35-1BCE8C0FD8DC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7FA8C3-B9FE-484E-BA5F-86F0026409A2}">
      <dsp:nvSpPr>
        <dsp:cNvPr id="0" name=""/>
        <dsp:cNvSpPr/>
      </dsp:nvSpPr>
      <dsp:spPr>
        <a:xfrm rot="16200000">
          <a:off x="0" y="142858"/>
          <a:ext cx="2767793" cy="2767793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63000"/>
              </a:schemeClr>
            </a:gs>
            <a:gs pos="30000">
              <a:schemeClr val="accent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45000">
              <a:schemeClr val="accent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73000">
              <a:schemeClr val="accent2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3000"/>
              </a:schemeClr>
            </a:gs>
          </a:gsLst>
          <a:lin ang="950000" scaled="1"/>
        </a:gradFill>
        <a:ln>
          <a:noFill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bg2">
                  <a:lumMod val="25000"/>
                </a:schemeClr>
              </a:solidFill>
            </a:rPr>
            <a:t>UNCERTAINTY</a:t>
          </a:r>
        </a:p>
      </dsp:txBody>
      <dsp:txXfrm rot="5400000">
        <a:off x="0" y="834806"/>
        <a:ext cx="2283429" cy="1383897"/>
      </dsp:txXfrm>
    </dsp:sp>
    <dsp:sp modelId="{1085A976-96CB-474D-8A35-1BCE8C0FD8DC}">
      <dsp:nvSpPr>
        <dsp:cNvPr id="0" name=""/>
        <dsp:cNvSpPr/>
      </dsp:nvSpPr>
      <dsp:spPr>
        <a:xfrm rot="5400000">
          <a:off x="2922926" y="167888"/>
          <a:ext cx="2767793" cy="2767793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63000"/>
              </a:schemeClr>
            </a:gs>
            <a:gs pos="30000">
              <a:schemeClr val="accent3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45000">
              <a:schemeClr val="accent3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55000">
              <a:schemeClr val="accent3">
                <a:hueOff val="0"/>
                <a:satOff val="0"/>
                <a:lumOff val="0"/>
                <a:alphaOff val="0"/>
                <a:shade val="100000"/>
                <a:satMod val="118000"/>
              </a:schemeClr>
            </a:gs>
            <a:gs pos="73000">
              <a:schemeClr val="accent3">
                <a:hueOff val="0"/>
                <a:satOff val="0"/>
                <a:lumOff val="0"/>
                <a:alphaOff val="0"/>
                <a:shade val="90000"/>
                <a:sat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63000"/>
              </a:schemeClr>
            </a:gs>
          </a:gsLst>
          <a:lin ang="950000" scaled="1"/>
        </a:gradFill>
        <a:ln>
          <a:noFill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bg2">
                  <a:lumMod val="25000"/>
                </a:schemeClr>
              </a:solidFill>
            </a:rPr>
            <a:t>UNEXACT KNOWLEDGE</a:t>
          </a:r>
        </a:p>
      </dsp:txBody>
      <dsp:txXfrm rot="-5400000">
        <a:off x="3407290" y="859836"/>
        <a:ext cx="2283429" cy="13838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73C83-45B2-4C23-AA4C-508687BA3282}" type="datetimeFigureOut">
              <a:rPr lang="en-ID" smtClean="0"/>
              <a:t>21/06/2024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7255F-E4BE-496C-896B-68170C207B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693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3048000"/>
            <a:ext cx="109728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048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3048000"/>
            <a:ext cx="109728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3048000"/>
            <a:ext cx="109728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244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3048000"/>
            <a:ext cx="109728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973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3048000"/>
            <a:ext cx="109728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58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3048000"/>
            <a:ext cx="109728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358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3048000"/>
            <a:ext cx="109728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682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3048000"/>
            <a:ext cx="109728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59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3048000"/>
            <a:ext cx="109728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448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3048000"/>
            <a:ext cx="109728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739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1439E42-8CC8-493A-8E55-8F049015FC2D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6BF5CDF-C125-479E-9F97-5DCB9DCDD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39E42-8CC8-493A-8E55-8F049015FC2D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F5CDF-C125-479E-9F97-5DCB9DCDD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B1439E42-8CC8-493A-8E55-8F049015FC2D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6BF5CDF-C125-479E-9F97-5DCB9DCDD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39E42-8CC8-493A-8E55-8F049015FC2D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F5CDF-C125-479E-9F97-5DCB9DCDD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39E42-8CC8-493A-8E55-8F049015FC2D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F5CDF-C125-479E-9F97-5DCB9DCDD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39E42-8CC8-493A-8E55-8F049015FC2D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F5CDF-C125-479E-9F97-5DCB9DCDD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39E42-8CC8-493A-8E55-8F049015FC2D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F5CDF-C125-479E-9F97-5DCB9DCDD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39E42-8CC8-493A-8E55-8F049015FC2D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F5CDF-C125-479E-9F97-5DCB9DCDD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39E42-8CC8-493A-8E55-8F049015FC2D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F5CDF-C125-479E-9F97-5DCB9DCDD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39E42-8CC8-493A-8E55-8F049015FC2D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F5CDF-C125-479E-9F97-5DCB9DCDD7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39E42-8CC8-493A-8E55-8F049015FC2D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F5CDF-C125-479E-9F97-5DCB9DCDD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338" y="0"/>
            <a:ext cx="1913239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7061" y="0"/>
            <a:ext cx="1911443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1901438" y="4308467"/>
            <a:ext cx="1913238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350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7963" y="4308467"/>
            <a:ext cx="1913238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350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7901" y="0"/>
            <a:ext cx="1920255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30841" y="1344405"/>
            <a:ext cx="5238680" cy="2560441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2475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08910" y="1347665"/>
            <a:ext cx="576072" cy="1882471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75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0840" y="3977196"/>
            <a:ext cx="3728428" cy="864804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5462" y="3209544"/>
            <a:ext cx="576072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7500" b="1"/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8943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4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8048" y="3390900"/>
            <a:ext cx="9162047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338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214" y="731520"/>
            <a:ext cx="8003286" cy="1350200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9179" y="2392023"/>
            <a:ext cx="1947672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9179" y="4989515"/>
            <a:ext cx="1949053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35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7664" y="5599756"/>
            <a:ext cx="1712604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38021" y="2392619"/>
            <a:ext cx="1947672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37561" y="4990111"/>
            <a:ext cx="1949053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35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5555" y="5600352"/>
            <a:ext cx="1712604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706863" y="2393215"/>
            <a:ext cx="1947672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5942" y="4990707"/>
            <a:ext cx="1949053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35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4397" y="5600948"/>
            <a:ext cx="1712604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775704" y="2393215"/>
            <a:ext cx="1947672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74324" y="4990707"/>
            <a:ext cx="1949053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35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93238" y="5600948"/>
            <a:ext cx="1712604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41460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99579" y="0"/>
            <a:ext cx="1744421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9214" y="731519"/>
            <a:ext cx="8003286" cy="1359929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66928" y="2825496"/>
            <a:ext cx="8010144" cy="283464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0996D-0D23-7C1B-15E3-E181C069AB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261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128838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1477970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2"/>
            <a:ext cx="752587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214" y="731520"/>
            <a:ext cx="8003286" cy="2126438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749" y="590134"/>
            <a:ext cx="581266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69214" y="2999345"/>
            <a:ext cx="8005572" cy="3538615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5170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90089" y="731520"/>
            <a:ext cx="5579432" cy="18288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76" y="-2784"/>
            <a:ext cx="2582466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77483" y="-2784"/>
            <a:ext cx="1300808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91216" y="-2784"/>
            <a:ext cx="1287086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76" y="3440504"/>
            <a:ext cx="2582466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88843" y="3440505"/>
            <a:ext cx="1289447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90088" y="2567536"/>
            <a:ext cx="2674620" cy="1077871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350" b="0" cap="all" baseline="0"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990088" y="3645408"/>
            <a:ext cx="2674620" cy="2743361"/>
          </a:xfrm>
        </p:spPr>
        <p:txBody>
          <a:bodyPr lIns="45720" rIns="45720" bIns="45720">
            <a:normAutofit/>
          </a:bodyPr>
          <a:lstStyle>
            <a:lvl1pPr>
              <a:spcBef>
                <a:spcPts val="750"/>
              </a:spcBef>
              <a:defRPr sz="1050"/>
            </a:lvl1pPr>
            <a:lvl2pPr>
              <a:spcBef>
                <a:spcPts val="750"/>
              </a:spcBef>
              <a:defRPr sz="900"/>
            </a:lvl2pPr>
            <a:lvl3pPr>
              <a:spcBef>
                <a:spcPts val="750"/>
              </a:spcBef>
              <a:defRPr sz="825"/>
            </a:lvl3pPr>
            <a:lvl4pPr>
              <a:spcBef>
                <a:spcPts val="750"/>
              </a:spcBef>
              <a:defRPr sz="825"/>
            </a:lvl4pPr>
            <a:lvl5pPr>
              <a:spcBef>
                <a:spcPts val="750"/>
              </a:spcBef>
              <a:defRPr sz="825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893408" y="2567536"/>
            <a:ext cx="2676113" cy="1077871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350" b="0" cap="all" baseline="0"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893408" y="3645408"/>
            <a:ext cx="2676113" cy="2743361"/>
          </a:xfrm>
        </p:spPr>
        <p:txBody>
          <a:bodyPr lIns="45720" rIns="45720" bIns="45720">
            <a:normAutofit/>
          </a:bodyPr>
          <a:lstStyle>
            <a:lvl1pPr>
              <a:spcBef>
                <a:spcPts val="750"/>
              </a:spcBef>
              <a:defRPr sz="1050"/>
            </a:lvl1pPr>
            <a:lvl2pPr>
              <a:spcBef>
                <a:spcPts val="750"/>
              </a:spcBef>
              <a:defRPr sz="900"/>
            </a:lvl2pPr>
            <a:lvl3pPr>
              <a:spcBef>
                <a:spcPts val="750"/>
              </a:spcBef>
              <a:defRPr sz="825"/>
            </a:lvl3pPr>
            <a:lvl4pPr>
              <a:spcBef>
                <a:spcPts val="750"/>
              </a:spcBef>
              <a:defRPr sz="825"/>
            </a:lvl4pPr>
            <a:lvl5pPr>
              <a:spcBef>
                <a:spcPts val="750"/>
              </a:spcBef>
              <a:defRPr sz="825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347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736168-42FB-B175-878F-1D92D461293F}"/>
              </a:ext>
            </a:extLst>
          </p:cNvPr>
          <p:cNvGrpSpPr/>
          <p:nvPr userDrawn="1"/>
        </p:nvGrpSpPr>
        <p:grpSpPr>
          <a:xfrm>
            <a:off x="6571350" y="1"/>
            <a:ext cx="2572650" cy="6858000"/>
            <a:chOff x="0" y="1"/>
            <a:chExt cx="3430200" cy="6858000"/>
          </a:xfrm>
        </p:grpSpPr>
        <p:sp>
          <p:nvSpPr>
            <p:cNvPr id="2" name="Freeform: Shape 22">
              <a:extLst>
                <a:ext uri="{FF2B5EF4-FFF2-40B4-BE49-F238E27FC236}">
                  <a16:creationId xmlns:a16="http://schemas.microsoft.com/office/drawing/2014/main" id="{6EE64E38-E907-48C4-BA19-D68AFECDF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3427336"/>
              <a:ext cx="3430200" cy="3430665"/>
            </a:xfrm>
            <a:custGeom>
              <a:avLst/>
              <a:gdLst>
                <a:gd name="connsiteX0" fmla="*/ 0 w 3430200"/>
                <a:gd name="connsiteY0" fmla="*/ 0 h 3430665"/>
                <a:gd name="connsiteX1" fmla="*/ 3430200 w 3430200"/>
                <a:gd name="connsiteY1" fmla="*/ 0 h 3430665"/>
                <a:gd name="connsiteX2" fmla="*/ 3430200 w 3430200"/>
                <a:gd name="connsiteY2" fmla="*/ 3430665 h 3430665"/>
                <a:gd name="connsiteX3" fmla="*/ 0 w 3430200"/>
                <a:gd name="connsiteY3" fmla="*/ 3430665 h 3430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0200" h="3430665">
                  <a:moveTo>
                    <a:pt x="0" y="0"/>
                  </a:moveTo>
                  <a:lnTo>
                    <a:pt x="3430200" y="0"/>
                  </a:lnTo>
                  <a:lnTo>
                    <a:pt x="3430200" y="3430665"/>
                  </a:lnTo>
                  <a:lnTo>
                    <a:pt x="0" y="343066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19">
              <a:extLst>
                <a:ext uri="{FF2B5EF4-FFF2-40B4-BE49-F238E27FC236}">
                  <a16:creationId xmlns:a16="http://schemas.microsoft.com/office/drawing/2014/main" id="{FAE76847-A4FB-E2C1-6FEF-4ECAB5AD0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3427336"/>
              <a:ext cx="3430200" cy="3430665"/>
            </a:xfrm>
            <a:custGeom>
              <a:avLst/>
              <a:gdLst>
                <a:gd name="connsiteX0" fmla="*/ 3430200 w 3430200"/>
                <a:gd name="connsiteY0" fmla="*/ 0 h 3430665"/>
                <a:gd name="connsiteX1" fmla="*/ 3430200 w 3430200"/>
                <a:gd name="connsiteY1" fmla="*/ 3430665 h 3430665"/>
                <a:gd name="connsiteX2" fmla="*/ 0 w 3430200"/>
                <a:gd name="connsiteY2" fmla="*/ 3430665 h 3430665"/>
                <a:gd name="connsiteX3" fmla="*/ 0 w 3430200"/>
                <a:gd name="connsiteY3" fmla="*/ 3417531 h 3430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0200" h="3430665">
                  <a:moveTo>
                    <a:pt x="3430200" y="0"/>
                  </a:moveTo>
                  <a:lnTo>
                    <a:pt x="3430200" y="3430665"/>
                  </a:lnTo>
                  <a:lnTo>
                    <a:pt x="0" y="3430665"/>
                  </a:lnTo>
                  <a:lnTo>
                    <a:pt x="0" y="34175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8" name="Freeform: Shape 13">
              <a:extLst>
                <a:ext uri="{FF2B5EF4-FFF2-40B4-BE49-F238E27FC236}">
                  <a16:creationId xmlns:a16="http://schemas.microsoft.com/office/drawing/2014/main" id="{F7981226-45F7-E6E8-D9AE-C91719B27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3423785" cy="3437345"/>
            </a:xfrm>
            <a:custGeom>
              <a:avLst/>
              <a:gdLst>
                <a:gd name="connsiteX0" fmla="*/ 0 w 3423785"/>
                <a:gd name="connsiteY0" fmla="*/ 0 h 3437345"/>
                <a:gd name="connsiteX1" fmla="*/ 3423785 w 3423785"/>
                <a:gd name="connsiteY1" fmla="*/ 0 h 3437345"/>
                <a:gd name="connsiteX2" fmla="*/ 3423785 w 3423785"/>
                <a:gd name="connsiteY2" fmla="*/ 3437345 h 3437345"/>
                <a:gd name="connsiteX3" fmla="*/ 0 w 3423785"/>
                <a:gd name="connsiteY3" fmla="*/ 3437345 h 3437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3785" h="3437345">
                  <a:moveTo>
                    <a:pt x="0" y="0"/>
                  </a:moveTo>
                  <a:lnTo>
                    <a:pt x="3423785" y="0"/>
                  </a:lnTo>
                  <a:lnTo>
                    <a:pt x="3423785" y="3437345"/>
                  </a:lnTo>
                  <a:lnTo>
                    <a:pt x="0" y="343734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16">
              <a:extLst>
                <a:ext uri="{FF2B5EF4-FFF2-40B4-BE49-F238E27FC236}">
                  <a16:creationId xmlns:a16="http://schemas.microsoft.com/office/drawing/2014/main" id="{9687CB02-B871-D558-D885-751314001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869"/>
              <a:ext cx="3423785" cy="3436477"/>
            </a:xfrm>
            <a:custGeom>
              <a:avLst/>
              <a:gdLst>
                <a:gd name="connsiteX0" fmla="*/ 0 w 3423785"/>
                <a:gd name="connsiteY0" fmla="*/ 0 h 3436477"/>
                <a:gd name="connsiteX1" fmla="*/ 3423785 w 3423785"/>
                <a:gd name="connsiteY1" fmla="*/ 3436477 h 3436477"/>
                <a:gd name="connsiteX2" fmla="*/ 0 w 3423785"/>
                <a:gd name="connsiteY2" fmla="*/ 3436477 h 3436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3785" h="3436477">
                  <a:moveTo>
                    <a:pt x="0" y="0"/>
                  </a:moveTo>
                  <a:lnTo>
                    <a:pt x="3423785" y="3436477"/>
                  </a:lnTo>
                  <a:lnTo>
                    <a:pt x="0" y="343647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1" y="731520"/>
            <a:ext cx="5579432" cy="18288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800" y="2567536"/>
            <a:ext cx="2674620" cy="1260753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350" b="0" cap="all" baseline="0"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5800" y="3828288"/>
            <a:ext cx="2674620" cy="2560480"/>
          </a:xfrm>
        </p:spPr>
        <p:txBody>
          <a:bodyPr lIns="45720" rIns="45720" bIns="45720">
            <a:normAutofit/>
          </a:bodyPr>
          <a:lstStyle>
            <a:lvl1pPr>
              <a:spcBef>
                <a:spcPts val="750"/>
              </a:spcBef>
              <a:defRPr sz="1050"/>
            </a:lvl1pPr>
            <a:lvl2pPr>
              <a:spcBef>
                <a:spcPts val="750"/>
              </a:spcBef>
              <a:defRPr sz="900"/>
            </a:lvl2pPr>
            <a:lvl3pPr>
              <a:spcBef>
                <a:spcPts val="750"/>
              </a:spcBef>
              <a:defRPr sz="825"/>
            </a:lvl3pPr>
            <a:lvl4pPr>
              <a:spcBef>
                <a:spcPts val="750"/>
              </a:spcBef>
              <a:defRPr sz="825"/>
            </a:lvl4pPr>
            <a:lvl5pPr>
              <a:spcBef>
                <a:spcPts val="750"/>
              </a:spcBef>
              <a:defRPr sz="825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586619" y="2567536"/>
            <a:ext cx="2676113" cy="1260753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350" b="0" cap="all" baseline="0"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586619" y="3828288"/>
            <a:ext cx="2676113" cy="2560480"/>
          </a:xfrm>
        </p:spPr>
        <p:txBody>
          <a:bodyPr lIns="45720" rIns="45720" bIns="45720">
            <a:normAutofit/>
          </a:bodyPr>
          <a:lstStyle>
            <a:lvl1pPr>
              <a:spcBef>
                <a:spcPts val="750"/>
              </a:spcBef>
              <a:defRPr sz="1050"/>
            </a:lvl1pPr>
            <a:lvl2pPr>
              <a:spcBef>
                <a:spcPts val="750"/>
              </a:spcBef>
              <a:defRPr sz="900"/>
            </a:lvl2pPr>
            <a:lvl3pPr>
              <a:spcBef>
                <a:spcPts val="750"/>
              </a:spcBef>
              <a:defRPr sz="825"/>
            </a:lvl3pPr>
            <a:lvl4pPr>
              <a:spcBef>
                <a:spcPts val="750"/>
              </a:spcBef>
              <a:defRPr sz="825"/>
            </a:lvl4pPr>
            <a:lvl5pPr>
              <a:spcBef>
                <a:spcPts val="750"/>
              </a:spcBef>
              <a:defRPr sz="825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6114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90089" y="731520"/>
            <a:ext cx="5579432" cy="18288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76" y="-2784"/>
            <a:ext cx="2582466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77483" y="-2784"/>
            <a:ext cx="1300808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91216" y="-2784"/>
            <a:ext cx="1287086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76" y="3440504"/>
            <a:ext cx="2582466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88843" y="3440505"/>
            <a:ext cx="1289447" cy="172402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990088" y="2733473"/>
            <a:ext cx="2674620" cy="3655296"/>
          </a:xfrm>
        </p:spPr>
        <p:txBody>
          <a:bodyPr lIns="45720" rIns="45720" bIns="45720">
            <a:normAutofit/>
          </a:bodyPr>
          <a:lstStyle>
            <a:lvl1pPr>
              <a:spcBef>
                <a:spcPts val="750"/>
              </a:spcBef>
              <a:defRPr sz="1050"/>
            </a:lvl1pPr>
            <a:lvl2pPr>
              <a:spcBef>
                <a:spcPts val="750"/>
              </a:spcBef>
              <a:defRPr sz="900"/>
            </a:lvl2pPr>
            <a:lvl3pPr>
              <a:spcBef>
                <a:spcPts val="750"/>
              </a:spcBef>
              <a:defRPr sz="825"/>
            </a:lvl3pPr>
            <a:lvl4pPr>
              <a:spcBef>
                <a:spcPts val="750"/>
              </a:spcBef>
              <a:defRPr sz="825"/>
            </a:lvl4pPr>
            <a:lvl5pPr>
              <a:spcBef>
                <a:spcPts val="750"/>
              </a:spcBef>
              <a:defRPr sz="825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893408" y="2733473"/>
            <a:ext cx="2676113" cy="3655296"/>
          </a:xfrm>
        </p:spPr>
        <p:txBody>
          <a:bodyPr lIns="45720" rIns="45720" bIns="45720">
            <a:normAutofit/>
          </a:bodyPr>
          <a:lstStyle>
            <a:lvl1pPr>
              <a:spcBef>
                <a:spcPts val="750"/>
              </a:spcBef>
              <a:defRPr sz="1050"/>
            </a:lvl1pPr>
            <a:lvl2pPr>
              <a:spcBef>
                <a:spcPts val="750"/>
              </a:spcBef>
              <a:defRPr sz="900"/>
            </a:lvl2pPr>
            <a:lvl3pPr>
              <a:spcBef>
                <a:spcPts val="750"/>
              </a:spcBef>
              <a:defRPr sz="825"/>
            </a:lvl3pPr>
            <a:lvl4pPr>
              <a:spcBef>
                <a:spcPts val="750"/>
              </a:spcBef>
              <a:defRPr sz="825"/>
            </a:lvl4pPr>
            <a:lvl5pPr>
              <a:spcBef>
                <a:spcPts val="750"/>
              </a:spcBef>
              <a:defRPr sz="825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58213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8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703" y="731521"/>
            <a:ext cx="7998817" cy="1349997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3262" y="2131212"/>
            <a:ext cx="1522476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3262" y="3573354"/>
            <a:ext cx="1522476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050" b="0" cap="all" spc="15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3262" y="3949363"/>
            <a:ext cx="1522476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53262" y="4537631"/>
            <a:ext cx="1522476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3262" y="5979773"/>
            <a:ext cx="1522476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050" b="0" cap="all" spc="15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3262" y="6355782"/>
            <a:ext cx="1522476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1216" y="2131212"/>
            <a:ext cx="1522476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1216" y="3573354"/>
            <a:ext cx="1522476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050" b="0" cap="all" spc="15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1216" y="3949363"/>
            <a:ext cx="1522476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871216" y="4537631"/>
            <a:ext cx="1522476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71216" y="5979773"/>
            <a:ext cx="1522476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050" b="0" cap="all" spc="15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71216" y="6355782"/>
            <a:ext cx="1522476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789170" y="2131212"/>
            <a:ext cx="1522476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89170" y="3573354"/>
            <a:ext cx="1522476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050" b="0" cap="all" spc="15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89170" y="3949363"/>
            <a:ext cx="1522476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789170" y="4537631"/>
            <a:ext cx="1522476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89170" y="5979773"/>
            <a:ext cx="1522476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050" b="0" cap="all" spc="15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89170" y="6355782"/>
            <a:ext cx="1522476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707124" y="2131212"/>
            <a:ext cx="1522476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07124" y="3573354"/>
            <a:ext cx="1522476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050" b="0" cap="all" spc="15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07124" y="3949363"/>
            <a:ext cx="1522476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07124" y="4537631"/>
            <a:ext cx="1522476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07124" y="5979773"/>
            <a:ext cx="1522476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050" b="0" cap="all" spc="15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07124" y="6355782"/>
            <a:ext cx="1522476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81544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439E42-8CC8-493A-8E55-8F049015FC2D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6BF5CDF-C125-479E-9F97-5DCB9DCDD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UNCERTAINTY (dealing)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err="1"/>
              <a:t>Kecerdasan</a:t>
            </a:r>
            <a:r>
              <a:rPr lang="en-US"/>
              <a:t> </a:t>
            </a:r>
            <a:r>
              <a:rPr lang="en-US" err="1"/>
              <a:t>Buatan</a:t>
            </a:r>
            <a:endParaRPr lang="en-US"/>
          </a:p>
          <a:p>
            <a:r>
              <a:rPr lang="en-US"/>
              <a:t>Nelly </a:t>
            </a:r>
            <a:r>
              <a:rPr lang="en-US" err="1"/>
              <a:t>Indriani</a:t>
            </a:r>
            <a:r>
              <a:rPr lang="en-US"/>
              <a:t> </a:t>
            </a:r>
            <a:r>
              <a:rPr lang="en-US" err="1"/>
              <a:t>Widiastuti</a:t>
            </a:r>
            <a:r>
              <a:rPr lang="en-US"/>
              <a:t> </a:t>
            </a:r>
            <a:r>
              <a:rPr lang="en-US" err="1"/>
              <a:t>S.Si</a:t>
            </a:r>
            <a:r>
              <a:rPr lang="en-US"/>
              <a:t>., M.T.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Lingkungan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well defined problem</a:t>
            </a:r>
          </a:p>
          <a:p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ketidakpastian</a:t>
            </a:r>
            <a:r>
              <a:rPr lang="en-US" dirty="0"/>
              <a:t> (uncertainty)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fakta</a:t>
            </a:r>
            <a:r>
              <a:rPr lang="en-US" dirty="0"/>
              <a:t> yang </a:t>
            </a:r>
            <a:r>
              <a:rPr lang="en-US" dirty="0" err="1"/>
              <a:t>diketahui</a:t>
            </a:r>
            <a:endParaRPr lang="en-US" dirty="0"/>
          </a:p>
          <a:p>
            <a:pPr lvl="1"/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suhu</a:t>
            </a:r>
            <a:r>
              <a:rPr lang="en-US" dirty="0"/>
              <a:t> </a:t>
            </a:r>
            <a:r>
              <a:rPr lang="en-US" dirty="0" err="1"/>
              <a:t>udara</a:t>
            </a:r>
            <a:r>
              <a:rPr lang="en-US" dirty="0"/>
              <a:t> </a:t>
            </a:r>
            <a:r>
              <a:rPr lang="en-US" dirty="0" err="1"/>
              <a:t>sekarang</a:t>
            </a:r>
            <a:r>
              <a:rPr lang="en-US" dirty="0"/>
              <a:t> ?</a:t>
            </a:r>
          </a:p>
          <a:p>
            <a:pPr lvl="1"/>
            <a:r>
              <a:rPr lang="en-US" dirty="0" err="1"/>
              <a:t>Apakah</a:t>
            </a:r>
            <a:r>
              <a:rPr lang="en-US" dirty="0"/>
              <a:t> pasar </a:t>
            </a:r>
            <a:r>
              <a:rPr lang="en-US" dirty="0" err="1"/>
              <a:t>dekat</a:t>
            </a:r>
            <a:r>
              <a:rPr lang="en-US" dirty="0"/>
              <a:t> ?</a:t>
            </a:r>
          </a:p>
          <a:p>
            <a:r>
              <a:rPr lang="en-US" dirty="0" err="1"/>
              <a:t>Ketidakpastian</a:t>
            </a:r>
            <a:r>
              <a:rPr lang="en-US" dirty="0"/>
              <a:t> pada </a:t>
            </a:r>
            <a:r>
              <a:rPr lang="en-US" dirty="0" err="1"/>
              <a:t>inferensi</a:t>
            </a:r>
            <a:endParaRPr lang="en-US" dirty="0"/>
          </a:p>
          <a:p>
            <a:pPr lvl="1"/>
            <a:r>
              <a:rPr lang="en-US" dirty="0"/>
              <a:t>Jika baju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basah</a:t>
            </a:r>
            <a:r>
              <a:rPr lang="en-US" dirty="0"/>
              <a:t> dan </a:t>
            </a:r>
            <a:r>
              <a:rPr lang="en-US" dirty="0" err="1"/>
              <a:t>diluar</a:t>
            </a:r>
            <a:r>
              <a:rPr lang="en-US" dirty="0"/>
              <a:t>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kehujanan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Uncertainty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609600" indent="-609600">
              <a:buFontTx/>
              <a:buNone/>
            </a:pPr>
            <a:r>
              <a:rPr lang="en-US" sz="1600" dirty="0"/>
              <a:t>Let action </a:t>
            </a:r>
            <a:r>
              <a:rPr lang="en-US" sz="1600" i="1" dirty="0"/>
              <a:t>A</a:t>
            </a:r>
            <a:r>
              <a:rPr lang="en-US" sz="1600" i="1" baseline="-25000" dirty="0"/>
              <a:t>t</a:t>
            </a:r>
            <a:r>
              <a:rPr lang="en-US" sz="1600" dirty="0"/>
              <a:t> = leave for airport </a:t>
            </a:r>
            <a:r>
              <a:rPr lang="en-US" sz="1600" baseline="-25000" dirty="0"/>
              <a:t>t</a:t>
            </a:r>
            <a:r>
              <a:rPr lang="en-US" sz="1600" dirty="0"/>
              <a:t> minutes before flight</a:t>
            </a:r>
          </a:p>
          <a:p>
            <a:pPr marL="609600" indent="-609600">
              <a:buFontTx/>
              <a:buNone/>
            </a:pPr>
            <a:r>
              <a:rPr lang="en-US" sz="1600" dirty="0"/>
              <a:t>Will </a:t>
            </a:r>
            <a:r>
              <a:rPr lang="en-US" sz="1600" i="1" dirty="0"/>
              <a:t>A</a:t>
            </a:r>
            <a:r>
              <a:rPr lang="en-US" sz="1600" i="1" baseline="-25000" dirty="0"/>
              <a:t>t</a:t>
            </a:r>
            <a:r>
              <a:rPr lang="en-US" sz="1600" dirty="0"/>
              <a:t> get me there on time?
</a:t>
            </a:r>
          </a:p>
          <a:p>
            <a:pPr marL="609600" indent="-609600">
              <a:buNone/>
            </a:pPr>
            <a:r>
              <a:rPr lang="en-US" sz="1600" dirty="0"/>
              <a:t>Problems:</a:t>
            </a:r>
          </a:p>
          <a:p>
            <a:pPr marL="361950" indent="-361950">
              <a:buFont typeface="+mj-lt"/>
              <a:buAutoNum type="arabicPeriod"/>
            </a:pPr>
            <a:r>
              <a:rPr lang="en-US" sz="1600" dirty="0"/>
              <a:t>Partial </a:t>
            </a:r>
            <a:r>
              <a:rPr lang="en-US" sz="1600" dirty="0" err="1"/>
              <a:t>observability</a:t>
            </a:r>
            <a:r>
              <a:rPr lang="en-US" sz="1600" dirty="0"/>
              <a:t> (road state, other drivers' plans, etc.)
Noisy sensors (traffic reports)
Uncertainty in action outcomes (flat tire, etc.)
</a:t>
            </a:r>
            <a:r>
              <a:rPr lang="en-US" sz="1600" dirty="0" err="1"/>
              <a:t>Kompleksitas</a:t>
            </a:r>
            <a:r>
              <a:rPr lang="en-US" sz="1600" dirty="0"/>
              <a:t> yang </a:t>
            </a:r>
            <a:r>
              <a:rPr lang="en-US" sz="1600" dirty="0" err="1"/>
              <a:t>tinggi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pemodelan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perkiraan</a:t>
            </a:r>
            <a:r>
              <a:rPr lang="en-US" sz="1600" dirty="0"/>
              <a:t> </a:t>
            </a:r>
            <a:r>
              <a:rPr lang="en-US" sz="1600" dirty="0" err="1"/>
              <a:t>lalu</a:t>
            </a:r>
            <a:r>
              <a:rPr lang="en-US" sz="1600" dirty="0"/>
              <a:t> </a:t>
            </a:r>
            <a:r>
              <a:rPr lang="en-US" sz="1600" dirty="0" err="1"/>
              <a:t>lintas</a:t>
            </a:r>
            <a:endParaRPr lang="en-US" sz="1600" dirty="0"/>
          </a:p>
          <a:p>
            <a:pPr marL="609600" indent="-609600">
              <a:buFontTx/>
              <a:buNone/>
            </a:pPr>
            <a:endParaRPr lang="en-US" sz="1600" dirty="0"/>
          </a:p>
          <a:p>
            <a:pPr marL="609600" indent="-609600">
              <a:buFontTx/>
              <a:buNone/>
            </a:pPr>
            <a:r>
              <a:rPr lang="en-US" sz="1600" dirty="0" err="1"/>
              <a:t>Oleh</a:t>
            </a:r>
            <a:r>
              <a:rPr lang="en-US" sz="1600" dirty="0"/>
              <a:t>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itu</a:t>
            </a:r>
            <a:r>
              <a:rPr lang="en-US" sz="1600" dirty="0"/>
              <a:t> </a:t>
            </a:r>
            <a:r>
              <a:rPr lang="en-US" sz="1600" dirty="0" err="1"/>
              <a:t>pendekatan</a:t>
            </a:r>
            <a:r>
              <a:rPr lang="en-US" sz="1600" dirty="0"/>
              <a:t> </a:t>
            </a:r>
            <a:r>
              <a:rPr lang="en-US" sz="1600" dirty="0" err="1"/>
              <a:t>logis</a:t>
            </a:r>
            <a:r>
              <a:rPr lang="en-US" sz="1600" dirty="0"/>
              <a:t> </a:t>
            </a:r>
            <a:r>
              <a:rPr lang="en-US" sz="1600" dirty="0" err="1"/>
              <a:t>murni</a:t>
            </a:r>
            <a:r>
              <a:rPr lang="en-US" sz="1600" dirty="0"/>
              <a:t> </a:t>
            </a:r>
            <a:r>
              <a:rPr lang="en-US" sz="1600" dirty="0" err="1"/>
              <a:t>baik</a:t>
            </a:r>
            <a:r>
              <a:rPr lang="en-US" sz="1600" dirty="0"/>
              <a:t>.</a:t>
            </a:r>
          </a:p>
          <a:p>
            <a:pPr marL="361950" lvl="1" indent="-361950">
              <a:buFontTx/>
              <a:buAutoNum type="arabicPeriod"/>
            </a:pPr>
            <a:r>
              <a:rPr lang="en-US" sz="1600" dirty="0" err="1">
                <a:solidFill>
                  <a:schemeClr val="tx1"/>
                </a:solidFill>
              </a:rPr>
              <a:t>Resiko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kepalsuan</a:t>
            </a:r>
            <a:r>
              <a:rPr lang="en-US" sz="1600" dirty="0">
                <a:solidFill>
                  <a:schemeClr val="tx1"/>
                </a:solidFill>
              </a:rPr>
              <a:t> “</a:t>
            </a:r>
            <a:r>
              <a:rPr lang="en-US" sz="1600" i="1" dirty="0" err="1">
                <a:solidFill>
                  <a:schemeClr val="tx1"/>
                </a:solidFill>
              </a:rPr>
              <a:t>A</a:t>
            </a:r>
            <a:r>
              <a:rPr lang="en-US" sz="1600" i="1" baseline="-25000" dirty="0" err="1">
                <a:solidFill>
                  <a:schemeClr val="tx1"/>
                </a:solidFill>
              </a:rPr>
              <a:t>25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akan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membawa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saya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tiba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tepat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waktu</a:t>
            </a:r>
            <a:r>
              <a:rPr lang="en-US" sz="1600" dirty="0">
                <a:solidFill>
                  <a:schemeClr val="tx1"/>
                </a:solidFill>
              </a:rPr>
              <a:t>”, or</a:t>
            </a:r>
          </a:p>
          <a:p>
            <a:pPr marL="361950" lvl="1" indent="-361950">
              <a:buFontTx/>
              <a:buAutoNum type="arabicPeriod"/>
            </a:pPr>
            <a:r>
              <a:rPr lang="en-US" sz="1600" dirty="0" err="1">
                <a:solidFill>
                  <a:schemeClr val="tx1"/>
                </a:solidFill>
              </a:rPr>
              <a:t>Mengarah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kepada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kesimpulan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bahwa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terlalu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lemah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untuk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mengambil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keputusan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pPr marL="95250" indent="-95250">
              <a:buFontTx/>
              <a:buNone/>
            </a:pPr>
            <a:r>
              <a:rPr lang="en-US" sz="1600" dirty="0"/>
              <a:t>		“</a:t>
            </a:r>
            <a:r>
              <a:rPr lang="en-US" sz="1600" i="1" dirty="0"/>
              <a:t>A</a:t>
            </a:r>
            <a:r>
              <a:rPr lang="en-US" sz="1600" i="1" baseline="-25000" dirty="0"/>
              <a:t>25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membawa</a:t>
            </a:r>
            <a:r>
              <a:rPr lang="en-US" sz="1600" dirty="0"/>
              <a:t> </a:t>
            </a:r>
            <a:r>
              <a:rPr lang="en-US" sz="1600" dirty="0" err="1"/>
              <a:t>saya</a:t>
            </a:r>
            <a:r>
              <a:rPr lang="en-US" sz="1600" dirty="0"/>
              <a:t> </a:t>
            </a:r>
            <a:r>
              <a:rPr lang="en-US" sz="1600" dirty="0" err="1"/>
              <a:t>tepat</a:t>
            </a:r>
            <a:r>
              <a:rPr lang="en-US" sz="1600" dirty="0"/>
              <a:t> </a:t>
            </a:r>
            <a:r>
              <a:rPr lang="en-US" sz="1600" dirty="0" err="1"/>
              <a:t>waktu</a:t>
            </a:r>
            <a:r>
              <a:rPr lang="en-US" sz="1600" dirty="0"/>
              <a:t> </a:t>
            </a:r>
            <a:r>
              <a:rPr lang="en-US" sz="1600" dirty="0" err="1"/>
              <a:t>jika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kecelakaan</a:t>
            </a:r>
            <a:r>
              <a:rPr lang="en-US" sz="1600" dirty="0"/>
              <a:t> di </a:t>
            </a:r>
            <a:r>
              <a:rPr lang="en-US" sz="1600" dirty="0" err="1"/>
              <a:t>jembatan</a:t>
            </a:r>
            <a:r>
              <a:rPr lang="en-US" sz="1600" dirty="0"/>
              <a:t> dan </a:t>
            </a:r>
            <a:r>
              <a:rPr lang="en-US" sz="1600" dirty="0" err="1"/>
              <a:t>tidak</a:t>
            </a:r>
            <a:r>
              <a:rPr lang="en-US" sz="1600" dirty="0"/>
              <a:t> 	</a:t>
            </a:r>
            <a:r>
              <a:rPr lang="en-US" sz="1600" dirty="0" err="1"/>
              <a:t>hujan</a:t>
            </a:r>
            <a:r>
              <a:rPr lang="en-US" sz="1600" dirty="0"/>
              <a:t> dan ban </a:t>
            </a:r>
            <a:r>
              <a:rPr lang="en-US" sz="1600" dirty="0" err="1"/>
              <a:t>saya</a:t>
            </a:r>
            <a:r>
              <a:rPr lang="en-US" sz="1600" dirty="0"/>
              <a:t> </a:t>
            </a:r>
            <a:r>
              <a:rPr lang="en-US" sz="1600" dirty="0" err="1"/>
              <a:t>tetap</a:t>
            </a:r>
            <a:r>
              <a:rPr lang="en-US" sz="1600" dirty="0"/>
              <a:t> </a:t>
            </a:r>
            <a:r>
              <a:rPr lang="en-US" sz="1600" dirty="0" err="1"/>
              <a:t>utuh</a:t>
            </a:r>
            <a:r>
              <a:rPr lang="en-US" sz="1600" dirty="0"/>
              <a:t> </a:t>
            </a:r>
            <a:r>
              <a:rPr lang="en-US" sz="1600" dirty="0" err="1"/>
              <a:t>dll</a:t>
            </a:r>
            <a:r>
              <a:rPr lang="en-US" sz="1600" dirty="0"/>
              <a:t>.”
		(</a:t>
            </a:r>
            <a:r>
              <a:rPr lang="en-US" sz="1600" i="1" dirty="0"/>
              <a:t>A</a:t>
            </a:r>
            <a:r>
              <a:rPr lang="en-US" sz="1600" i="1" baseline="-25000" dirty="0"/>
              <a:t>1440</a:t>
            </a:r>
            <a:r>
              <a:rPr lang="en-US" sz="1600" dirty="0"/>
              <a:t> </a:t>
            </a:r>
            <a:r>
              <a:rPr lang="id-ID" sz="1600" dirty="0"/>
              <a:t>mungkin cukup dikatakan membuatku </a:t>
            </a:r>
            <a:r>
              <a:rPr lang="en-US" sz="1600" dirty="0" err="1"/>
              <a:t>tiba</a:t>
            </a:r>
            <a:r>
              <a:rPr lang="en-US" sz="1600" dirty="0"/>
              <a:t> </a:t>
            </a:r>
            <a:r>
              <a:rPr lang="id-ID" sz="1600" dirty="0"/>
              <a:t>di sana pada waktu</a:t>
            </a:r>
            <a:r>
              <a:rPr lang="en-US" sz="1600" dirty="0" err="1"/>
              <a:t>nya</a:t>
            </a:r>
            <a:r>
              <a:rPr lang="id-ID" sz="1600" dirty="0"/>
              <a:t> tapi aku harus </a:t>
            </a:r>
            <a:r>
              <a:rPr lang="en-US" sz="1600" dirty="0"/>
              <a:t>	</a:t>
            </a:r>
            <a:r>
              <a:rPr lang="id-ID" sz="1600" dirty="0"/>
              <a:t>bermalam di bandara</a:t>
            </a:r>
            <a:r>
              <a:rPr lang="en-US" sz="1600" dirty="0"/>
              <a:t> …)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Methods for handling uncertainty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en-US" sz="2000" dirty="0">
                <a:solidFill>
                  <a:schemeClr val="accent2"/>
                </a:solidFill>
              </a:rPr>
              <a:t>Default</a:t>
            </a:r>
            <a:r>
              <a:rPr lang="en-US" sz="2000" dirty="0"/>
              <a:t> or </a:t>
            </a:r>
            <a:r>
              <a:rPr lang="en-US" sz="2000" dirty="0" err="1">
                <a:solidFill>
                  <a:schemeClr val="accent2"/>
                </a:solidFill>
              </a:rPr>
              <a:t>nonmonotonic</a:t>
            </a:r>
            <a:r>
              <a:rPr lang="en-US" sz="2000" dirty="0"/>
              <a:t> logic:</a:t>
            </a:r>
          </a:p>
          <a:p>
            <a:pPr>
              <a:lnSpc>
                <a:spcPct val="80000"/>
              </a:lnSpc>
              <a:buNone/>
            </a:pPr>
            <a:r>
              <a:rPr lang="en-US" sz="2000" dirty="0"/>
              <a:t>	- </a:t>
            </a:r>
            <a:r>
              <a:rPr lang="en-US" sz="2000" dirty="0" err="1"/>
              <a:t>Asumsikan</a:t>
            </a:r>
            <a:r>
              <a:rPr lang="en-US" sz="2000" dirty="0"/>
              <a:t> ban </a:t>
            </a:r>
            <a:r>
              <a:rPr lang="en-US" sz="2000" dirty="0" err="1"/>
              <a:t>mobil</a:t>
            </a:r>
            <a:r>
              <a:rPr lang="en-US" sz="2000" dirty="0"/>
              <a:t> </a:t>
            </a:r>
            <a:r>
              <a:rPr lang="en-US" sz="2000" dirty="0" err="1"/>
              <a:t>saya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kempes</a:t>
            </a:r>
            <a:r>
              <a:rPr lang="en-US" sz="2000" dirty="0"/>
              <a:t> </a:t>
            </a:r>
            <a:r>
              <a:rPr lang="en-US" sz="1800" dirty="0"/>
              <a:t>
	- </a:t>
            </a:r>
            <a:r>
              <a:rPr lang="en-US" sz="1800" dirty="0" err="1"/>
              <a:t>Asumsikan</a:t>
            </a:r>
            <a:r>
              <a:rPr lang="en-US" sz="1800" dirty="0"/>
              <a:t>  </a:t>
            </a:r>
            <a:r>
              <a:rPr lang="en-US" sz="1800" i="1" dirty="0" err="1"/>
              <a:t>A</a:t>
            </a:r>
            <a:r>
              <a:rPr lang="en-US" sz="1800" i="1" baseline="-25000" dirty="0" err="1"/>
              <a:t>25</a:t>
            </a:r>
            <a:r>
              <a:rPr lang="en-US" sz="1800" dirty="0"/>
              <a:t> </a:t>
            </a:r>
            <a:r>
              <a:rPr lang="en-US" sz="1800" dirty="0" err="1"/>
              <a:t>berjalan</a:t>
            </a:r>
            <a:r>
              <a:rPr lang="en-US" sz="1800" dirty="0"/>
              <a:t> </a:t>
            </a:r>
            <a:r>
              <a:rPr lang="en-US" sz="1800" dirty="0" err="1"/>
              <a:t>kecuali</a:t>
            </a:r>
            <a:r>
              <a:rPr lang="en-US" sz="1800" dirty="0"/>
              <a:t> </a:t>
            </a:r>
            <a:r>
              <a:rPr lang="en-US" sz="1800" dirty="0" err="1"/>
              <a:t>berlawanan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bukti</a:t>
            </a:r>
            <a:endParaRPr lang="en-US" sz="1800" dirty="0"/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000" dirty="0"/>
              <a:t>Issues: </a:t>
            </a:r>
          </a:p>
          <a:p>
            <a:pPr>
              <a:lnSpc>
                <a:spcPct val="80000"/>
              </a:lnSpc>
              <a:buNone/>
            </a:pPr>
            <a:r>
              <a:rPr lang="en-US" sz="2000" dirty="0"/>
              <a:t>	- </a:t>
            </a:r>
            <a:r>
              <a:rPr lang="en-US" sz="2000" dirty="0" err="1"/>
              <a:t>Assumsi</a:t>
            </a:r>
            <a:r>
              <a:rPr lang="en-US" sz="2000" dirty="0"/>
              <a:t> </a:t>
            </a:r>
            <a:r>
              <a:rPr lang="en-US" sz="2000" dirty="0" err="1"/>
              <a:t>apa</a:t>
            </a:r>
            <a:r>
              <a:rPr lang="en-US" sz="2000" dirty="0"/>
              <a:t> yang </a:t>
            </a:r>
            <a:r>
              <a:rPr lang="en-US" sz="2000" dirty="0" err="1"/>
              <a:t>masuk</a:t>
            </a:r>
            <a:r>
              <a:rPr lang="en-US" sz="2000" dirty="0"/>
              <a:t> </a:t>
            </a:r>
            <a:r>
              <a:rPr lang="en-US" sz="2000" dirty="0" err="1"/>
              <a:t>akal</a:t>
            </a:r>
            <a:r>
              <a:rPr lang="en-US" sz="2000" dirty="0"/>
              <a:t> ?</a:t>
            </a:r>
          </a:p>
          <a:p>
            <a:pPr>
              <a:lnSpc>
                <a:spcPct val="80000"/>
              </a:lnSpc>
              <a:buNone/>
            </a:pPr>
            <a:r>
              <a:rPr lang="en-US" sz="2000" dirty="0"/>
              <a:t>	- </a:t>
            </a:r>
            <a:r>
              <a:rPr lang="en-US" sz="2000" dirty="0" err="1"/>
              <a:t>Bagaimana</a:t>
            </a:r>
            <a:r>
              <a:rPr lang="en-US" sz="2000" dirty="0"/>
              <a:t> </a:t>
            </a:r>
            <a:r>
              <a:rPr lang="en-US" sz="2000" dirty="0" err="1"/>
              <a:t>mengatasi</a:t>
            </a:r>
            <a:r>
              <a:rPr lang="en-US" sz="2000" dirty="0"/>
              <a:t> </a:t>
            </a:r>
            <a:r>
              <a:rPr lang="en-US" sz="2000" dirty="0" err="1"/>
              <a:t>kontradiksi</a:t>
            </a:r>
            <a:r>
              <a:rPr lang="en-US" sz="2000" dirty="0"/>
              <a:t> ?</a:t>
            </a:r>
          </a:p>
          <a:p>
            <a:pPr lvl="4">
              <a:lnSpc>
                <a:spcPct val="80000"/>
              </a:lnSpc>
            </a:pPr>
            <a:endParaRPr lang="en-US" sz="1400" dirty="0">
              <a:solidFill>
                <a:schemeClr val="accent2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solidFill>
                  <a:schemeClr val="accent2"/>
                </a:solidFill>
              </a:rPr>
              <a:t>Rules with fudge factors</a:t>
            </a:r>
            <a:r>
              <a:rPr lang="en-US" sz="2000" dirty="0"/>
              <a:t>:\</a:t>
            </a:r>
          </a:p>
          <a:p>
            <a:pPr>
              <a:lnSpc>
                <a:spcPct val="80000"/>
              </a:lnSpc>
              <a:buNone/>
            </a:pPr>
            <a:r>
              <a:rPr lang="en-US" sz="2000" i="1" dirty="0"/>
              <a:t>	- </a:t>
            </a:r>
            <a:r>
              <a:rPr lang="en-US" sz="1800" i="1" dirty="0" err="1"/>
              <a:t>A</a:t>
            </a:r>
            <a:r>
              <a:rPr lang="en-US" sz="1800" i="1" baseline="-25000" dirty="0" err="1"/>
              <a:t>25</a:t>
            </a:r>
            <a:r>
              <a:rPr lang="en-US" sz="1800" i="1" dirty="0"/>
              <a:t> |</a:t>
            </a:r>
            <a:r>
              <a:rPr lang="en-US" sz="1800" dirty="0"/>
              <a:t>→</a:t>
            </a:r>
            <a:r>
              <a:rPr lang="en-US" sz="1800" baseline="-25000" dirty="0"/>
              <a:t>0.3</a:t>
            </a:r>
            <a:r>
              <a:rPr lang="en-US" sz="1800" dirty="0"/>
              <a:t> get there on time
	- </a:t>
            </a:r>
            <a:r>
              <a:rPr lang="en-US" sz="1800" i="1" dirty="0"/>
              <a:t>Sprinkler |</a:t>
            </a:r>
            <a:r>
              <a:rPr lang="en-US" sz="1800" dirty="0"/>
              <a:t>→</a:t>
            </a:r>
            <a:r>
              <a:rPr lang="en-US" sz="1800" i="1" dirty="0"/>
              <a:t> </a:t>
            </a:r>
            <a:r>
              <a:rPr lang="en-US" sz="1800" baseline="-25000" dirty="0"/>
              <a:t>0.99</a:t>
            </a:r>
            <a:r>
              <a:rPr lang="en-US" sz="1800" dirty="0"/>
              <a:t> </a:t>
            </a:r>
            <a:r>
              <a:rPr lang="en-US" sz="1800" i="1" dirty="0" err="1"/>
              <a:t>WetGrass</a:t>
            </a:r>
            <a:r>
              <a:rPr lang="en-US" sz="1800" dirty="0"/>
              <a:t>
	- </a:t>
            </a:r>
            <a:r>
              <a:rPr lang="en-US" sz="1800" i="1" dirty="0" err="1"/>
              <a:t>WetGrass</a:t>
            </a:r>
            <a:r>
              <a:rPr lang="en-US" sz="1800" i="1" dirty="0"/>
              <a:t> |</a:t>
            </a:r>
            <a:r>
              <a:rPr lang="en-US" sz="1800" dirty="0"/>
              <a:t>→</a:t>
            </a:r>
            <a:r>
              <a:rPr lang="en-US" sz="1800" i="1" dirty="0"/>
              <a:t> </a:t>
            </a:r>
            <a:r>
              <a:rPr lang="en-US" sz="1800" baseline="-25000" dirty="0"/>
              <a:t>0.7</a:t>
            </a:r>
            <a:r>
              <a:rPr lang="en-US" sz="1800" dirty="0"/>
              <a:t> </a:t>
            </a:r>
            <a:r>
              <a:rPr lang="en-US" sz="1800" i="1" dirty="0"/>
              <a:t>Rain</a:t>
            </a:r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000" dirty="0"/>
              <a:t>Issues: </a:t>
            </a:r>
          </a:p>
          <a:p>
            <a:pPr>
              <a:lnSpc>
                <a:spcPct val="80000"/>
              </a:lnSpc>
              <a:buNone/>
            </a:pPr>
            <a:r>
              <a:rPr lang="en-US" sz="2000" dirty="0"/>
              <a:t>	- Problems with combination, e.g., </a:t>
            </a:r>
            <a:r>
              <a:rPr lang="en-US" sz="2000" i="1" dirty="0"/>
              <a:t>Sprinkler</a:t>
            </a:r>
            <a:r>
              <a:rPr lang="en-US" sz="2000" dirty="0"/>
              <a:t> causes </a:t>
            </a:r>
            <a:r>
              <a:rPr lang="en-US" sz="2000" i="1" dirty="0"/>
              <a:t>Rain</a:t>
            </a:r>
            <a:r>
              <a:rPr lang="en-US" sz="2000" dirty="0"/>
              <a:t>??
</a:t>
            </a:r>
            <a:endParaRPr lang="en-US" sz="2000" dirty="0">
              <a:solidFill>
                <a:schemeClr val="accent2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sz="1800" dirty="0"/>
              <a:t>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SUMBER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Uncertain data</a:t>
            </a:r>
          </a:p>
          <a:p>
            <a:pPr lvl="1"/>
            <a:r>
              <a:rPr lang="en-US" altLang="en-US" sz="2400" dirty="0"/>
              <a:t>Data </a:t>
            </a:r>
            <a:r>
              <a:rPr lang="en-US" altLang="en-US" sz="2400" dirty="0" err="1"/>
              <a:t>hilang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tidak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dapat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dipercaya</a:t>
            </a:r>
            <a:r>
              <a:rPr lang="en-US" altLang="en-US" sz="2400" dirty="0"/>
              <a:t>, ambiguous, </a:t>
            </a:r>
            <a:r>
              <a:rPr lang="en-US" altLang="en-US" sz="2400" dirty="0" err="1"/>
              <a:t>representasi</a:t>
            </a:r>
            <a:r>
              <a:rPr lang="en-US" altLang="en-US" sz="2400" dirty="0"/>
              <a:t> yang </a:t>
            </a:r>
            <a:r>
              <a:rPr lang="en-US" altLang="en-US" sz="2400" dirty="0" err="1"/>
              <a:t>tidak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tepat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tidak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konsisten</a:t>
            </a:r>
            <a:r>
              <a:rPr lang="en-US" altLang="en-US" sz="2400" dirty="0"/>
              <a:t> , subjective,  </a:t>
            </a:r>
            <a:r>
              <a:rPr lang="en-US" altLang="en-US" sz="2400" dirty="0" err="1"/>
              <a:t>meleset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dari</a:t>
            </a:r>
            <a:r>
              <a:rPr lang="en-US" altLang="en-US" sz="2400" dirty="0"/>
              <a:t>  </a:t>
            </a:r>
            <a:r>
              <a:rPr lang="en-US" altLang="en-US" sz="2400" dirty="0" err="1"/>
              <a:t>batas</a:t>
            </a:r>
            <a:r>
              <a:rPr lang="en-US" altLang="en-US" sz="2400" dirty="0"/>
              <a:t> , noisy…</a:t>
            </a:r>
          </a:p>
          <a:p>
            <a:pPr lvl="1"/>
            <a:endParaRPr lang="en-US" altLang="en-US" sz="2400" dirty="0"/>
          </a:p>
          <a:p>
            <a:pPr>
              <a:spcBef>
                <a:spcPct val="0"/>
              </a:spcBef>
            </a:pPr>
            <a:r>
              <a:rPr lang="en-US" altLang="en-US" sz="2800" dirty="0"/>
              <a:t>Uncertain knowledge</a:t>
            </a:r>
          </a:p>
          <a:p>
            <a:pPr lvl="1">
              <a:spcBef>
                <a:spcPct val="0"/>
              </a:spcBef>
            </a:pPr>
            <a:r>
              <a:rPr lang="en-US" altLang="en-US" sz="2400" dirty="0"/>
              <a:t>Multiple causes lead to multiple effects</a:t>
            </a:r>
          </a:p>
          <a:p>
            <a:pPr lvl="1">
              <a:spcBef>
                <a:spcPct val="0"/>
              </a:spcBef>
            </a:pPr>
            <a:r>
              <a:rPr lang="en-US" altLang="en-US" sz="2400" dirty="0"/>
              <a:t>Incomplete knowledge</a:t>
            </a:r>
          </a:p>
          <a:p>
            <a:pPr lvl="1">
              <a:spcBef>
                <a:spcPct val="0"/>
              </a:spcBef>
            </a:pPr>
            <a:r>
              <a:rPr lang="en-US" altLang="en-US" sz="2400" dirty="0"/>
              <a:t>Probabilistic/stochastic effects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SUMBER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Uncertain knowledge representation</a:t>
            </a:r>
          </a:p>
          <a:p>
            <a:pPr lvl="1"/>
            <a:r>
              <a:rPr lang="en-US" altLang="en-US" sz="2400" dirty="0" err="1"/>
              <a:t>Keterbatasan</a:t>
            </a:r>
            <a:r>
              <a:rPr lang="en-US" altLang="en-US" sz="2400" dirty="0"/>
              <a:t> Model  </a:t>
            </a:r>
            <a:r>
              <a:rPr lang="en-US" altLang="en-US" sz="2400" dirty="0" err="1"/>
              <a:t>daripada</a:t>
            </a:r>
            <a:r>
              <a:rPr lang="en-US" altLang="en-US" sz="2400" dirty="0"/>
              <a:t>  </a:t>
            </a:r>
            <a:r>
              <a:rPr lang="en-US" altLang="en-US" sz="2400" dirty="0" err="1"/>
              <a:t>sistem</a:t>
            </a:r>
            <a:r>
              <a:rPr lang="en-US" altLang="en-US" sz="2400" dirty="0"/>
              <a:t> yang </a:t>
            </a:r>
            <a:r>
              <a:rPr lang="en-US" altLang="en-US" sz="2400" dirty="0" err="1"/>
              <a:t>nyata</a:t>
            </a:r>
            <a:r>
              <a:rPr lang="en-US" altLang="en-US" sz="2400" dirty="0"/>
              <a:t> </a:t>
            </a:r>
          </a:p>
          <a:p>
            <a:pPr lvl="1"/>
            <a:r>
              <a:rPr lang="en-US" altLang="en-US" sz="2400" dirty="0" err="1"/>
              <a:t>Keterbatasan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ekspresi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mekanisme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representasi</a:t>
            </a:r>
            <a:r>
              <a:rPr lang="en-US" altLang="en-US" sz="2400" dirty="0"/>
              <a:t> </a:t>
            </a:r>
          </a:p>
          <a:p>
            <a:pPr lvl="1"/>
            <a:endParaRPr lang="en-US" altLang="en-US" sz="2400" dirty="0"/>
          </a:p>
          <a:p>
            <a:r>
              <a:rPr lang="en-US" altLang="en-US" sz="2800" dirty="0"/>
              <a:t>Inference process</a:t>
            </a:r>
          </a:p>
          <a:p>
            <a:pPr lvl="1"/>
            <a:r>
              <a:rPr lang="en-US" altLang="en-US" sz="2400" dirty="0" err="1"/>
              <a:t>Memperoleh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hasil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secara</a:t>
            </a:r>
            <a:r>
              <a:rPr lang="en-US" altLang="en-US" sz="2400" dirty="0"/>
              <a:t> formal </a:t>
            </a:r>
            <a:r>
              <a:rPr lang="en-US" altLang="en-US" sz="2400" dirty="0" err="1"/>
              <a:t>benar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tapi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salah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dalam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kenyataan</a:t>
            </a:r>
            <a:r>
              <a:rPr lang="en-US" altLang="en-US" sz="2400" dirty="0"/>
              <a:t>.</a:t>
            </a:r>
          </a:p>
          <a:p>
            <a:pPr lvl="1"/>
            <a:r>
              <a:rPr lang="en-US" altLang="en-US" sz="2400" dirty="0" err="1"/>
              <a:t>Tidak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lengkap</a:t>
            </a:r>
            <a:r>
              <a:rPr lang="en-US" altLang="en-US" sz="2400" dirty="0"/>
              <a:t>,  default reasoning methods</a:t>
            </a:r>
            <a:endParaRPr lang="en-US" sz="2800" dirty="0"/>
          </a:p>
          <a:p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REASONING DALAM KETIDAKPASTIAN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HEURISTICS</a:t>
            </a:r>
          </a:p>
          <a:p>
            <a:pPr lvl="1"/>
            <a:r>
              <a:rPr lang="en-US"/>
              <a:t>HUBUNGAN EMPIRIS</a:t>
            </a:r>
          </a:p>
          <a:p>
            <a:pPr lvl="1"/>
            <a:r>
              <a:rPr lang="en-US"/>
              <a:t>PROBABILITAS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500166" y="1357298"/>
          <a:ext cx="5691206" cy="3103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 MENGATASI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HEURISTICS</a:t>
            </a:r>
          </a:p>
          <a:p>
            <a:pPr lvl="2"/>
            <a:r>
              <a:rPr lang="en-US" sz="2400" dirty="0"/>
              <a:t>Cara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mengimitasi</a:t>
            </a:r>
            <a:r>
              <a:rPr lang="en-US" sz="2400" dirty="0"/>
              <a:t>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memproses</a:t>
            </a:r>
            <a:r>
              <a:rPr lang="en-US" sz="2400" dirty="0"/>
              <a:t> heuristic knowledge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 experts</a:t>
            </a:r>
          </a:p>
          <a:p>
            <a:pPr lvl="2"/>
            <a:endParaRPr lang="en-US" sz="2400" dirty="0"/>
          </a:p>
          <a:p>
            <a:pPr lvl="1"/>
            <a:r>
              <a:rPr lang="en-US" sz="2400" dirty="0" err="1"/>
              <a:t>HUBUNGAN</a:t>
            </a:r>
            <a:r>
              <a:rPr lang="en-US" sz="2400" dirty="0"/>
              <a:t> </a:t>
            </a:r>
            <a:r>
              <a:rPr lang="en-US" sz="2400" dirty="0" err="1"/>
              <a:t>EMPIRIK</a:t>
            </a:r>
            <a:r>
              <a:rPr lang="en-US" sz="2400" dirty="0"/>
              <a:t> </a:t>
            </a:r>
          </a:p>
          <a:p>
            <a:pPr lvl="2"/>
            <a:r>
              <a:rPr lang="en-US" sz="2400" dirty="0"/>
              <a:t>Experiential reasoning</a:t>
            </a:r>
          </a:p>
          <a:p>
            <a:pPr lvl="2"/>
            <a:r>
              <a:rPr lang="en-US" sz="2400" dirty="0"/>
              <a:t>Based on limited observations</a:t>
            </a:r>
          </a:p>
          <a:p>
            <a:pPr lvl="2"/>
            <a:endParaRPr lang="en-US" sz="2400" dirty="0"/>
          </a:p>
          <a:p>
            <a:pPr lvl="1"/>
            <a:r>
              <a:rPr lang="en-US" sz="2400" dirty="0"/>
              <a:t>PROBABILITIES</a:t>
            </a:r>
          </a:p>
          <a:p>
            <a:pPr lvl="2"/>
            <a:r>
              <a:rPr lang="en-US" sz="2400" dirty="0"/>
              <a:t>objective (frequency counting)</a:t>
            </a:r>
          </a:p>
          <a:p>
            <a:pPr lvl="2"/>
            <a:r>
              <a:rPr lang="en-US" sz="2400" dirty="0"/>
              <a:t>subjective (human experience )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DASAR TEORI PROBABILITAS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altLang="en-US" sz="2400" dirty="0" err="1"/>
              <a:t>Contoh</a:t>
            </a:r>
            <a:r>
              <a:rPr lang="en-US" altLang="en-US" sz="2400" dirty="0"/>
              <a:t>  </a:t>
            </a:r>
            <a:r>
              <a:rPr lang="en-US" altLang="en-US" sz="2400" dirty="0" err="1"/>
              <a:t>himpunan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keadaan</a:t>
            </a:r>
            <a:r>
              <a:rPr lang="en-US" altLang="en-US" sz="2400" dirty="0"/>
              <a:t> </a:t>
            </a:r>
            <a:br>
              <a:rPr lang="en-US" sz="2400" dirty="0"/>
            </a:br>
            <a:r>
              <a:rPr lang="en-US" altLang="en-US" sz="2400" dirty="0"/>
              <a:t>X = {</a:t>
            </a:r>
            <a:r>
              <a:rPr lang="en-US" altLang="en-US" sz="2400" dirty="0" err="1"/>
              <a:t>x1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x2</a:t>
            </a:r>
            <a:r>
              <a:rPr lang="en-US" altLang="en-US" sz="2400" dirty="0"/>
              <a:t>, …, </a:t>
            </a:r>
            <a:r>
              <a:rPr lang="en-US" altLang="en-US" sz="2400" dirty="0" err="1"/>
              <a:t>xn</a:t>
            </a:r>
            <a:r>
              <a:rPr lang="en-US" altLang="en-US" sz="2400" dirty="0"/>
              <a:t>}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Kumpulan </a:t>
            </a:r>
            <a:r>
              <a:rPr lang="en-US" altLang="en-US" sz="2400" dirty="0" err="1"/>
              <a:t>semua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kemungkinan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kejadian</a:t>
            </a:r>
            <a:r>
              <a:rPr lang="en-US" altLang="en-US" sz="2400" dirty="0"/>
              <a:t> 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Discrete or continuous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Probability number P(xi):  </a:t>
            </a:r>
            <a:r>
              <a:rPr lang="en-US" altLang="en-US" sz="2400" dirty="0" err="1"/>
              <a:t>kemungkinan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kejadian</a:t>
            </a:r>
            <a:r>
              <a:rPr lang="en-US" altLang="en-US" sz="2400" dirty="0"/>
              <a:t> xi </a:t>
            </a:r>
            <a:r>
              <a:rPr lang="en-US" altLang="en-US" sz="2400" dirty="0" err="1"/>
              <a:t>terjadi</a:t>
            </a:r>
            <a:endParaRPr lang="en-US" altLang="en-US" sz="2400" dirty="0"/>
          </a:p>
          <a:p>
            <a:pPr lvl="2">
              <a:lnSpc>
                <a:spcPct val="90000"/>
              </a:lnSpc>
            </a:pPr>
            <a:r>
              <a:rPr lang="en-US" altLang="en-US" sz="2400" dirty="0" err="1"/>
              <a:t>Nilai</a:t>
            </a:r>
            <a:r>
              <a:rPr lang="en-US" altLang="en-US" sz="2400" dirty="0"/>
              <a:t> non </a:t>
            </a:r>
            <a:r>
              <a:rPr lang="en-US" altLang="en-US" sz="2400" dirty="0" err="1"/>
              <a:t>negatif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dalam</a:t>
            </a:r>
            <a:r>
              <a:rPr lang="en-US" altLang="en-US" sz="2400" dirty="0"/>
              <a:t> [0,1]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Total probability </a:t>
            </a:r>
            <a:r>
              <a:rPr lang="en-US" altLang="en-US" sz="2400" dirty="0" err="1"/>
              <a:t>dari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ruang</a:t>
            </a:r>
            <a:r>
              <a:rPr lang="en-US" altLang="en-US" sz="2400" dirty="0"/>
              <a:t> sample </a:t>
            </a:r>
            <a:r>
              <a:rPr lang="en-US" altLang="en-US" sz="2400" dirty="0" err="1"/>
              <a:t>adalah</a:t>
            </a:r>
            <a:r>
              <a:rPr lang="en-US" altLang="en-US" sz="2400" dirty="0"/>
              <a:t> 1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 err="1"/>
              <a:t>Untuk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kejadian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saling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eksklusif</a:t>
            </a:r>
            <a:r>
              <a:rPr lang="en-US" altLang="en-US" sz="2400" dirty="0"/>
              <a:t>, probability paling </a:t>
            </a:r>
            <a:r>
              <a:rPr lang="en-US" altLang="en-US" sz="2400" dirty="0" err="1"/>
              <a:t>sedikit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satu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adalah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jumlah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probabilitas</a:t>
            </a:r>
            <a:r>
              <a:rPr lang="en-US" altLang="en-US" sz="2400" dirty="0"/>
              <a:t> individual</a:t>
            </a:r>
          </a:p>
          <a:p>
            <a:pPr lvl="2">
              <a:lnSpc>
                <a:spcPct val="90000"/>
              </a:lnSpc>
            </a:pPr>
            <a:r>
              <a:rPr lang="en-US" altLang="en-US" sz="2400" i="1" dirty="0"/>
              <a:t>experimental probability </a:t>
            </a:r>
            <a:r>
              <a:rPr lang="en-US" altLang="en-US" sz="2400" i="1" dirty="0">
                <a:sym typeface="Wingdings" pitchFamily="2" charset="2"/>
              </a:rPr>
              <a:t> </a:t>
            </a:r>
            <a:r>
              <a:rPr lang="en-US" altLang="en-US" sz="2400" i="1" dirty="0" err="1">
                <a:sym typeface="Wingdings" pitchFamily="2" charset="2"/>
              </a:rPr>
              <a:t>berdasarkan</a:t>
            </a:r>
            <a:r>
              <a:rPr lang="en-US" altLang="en-US" sz="2400" i="1" dirty="0">
                <a:sym typeface="Wingdings" pitchFamily="2" charset="2"/>
              </a:rPr>
              <a:t> </a:t>
            </a:r>
            <a:r>
              <a:rPr lang="en-US" altLang="en-US" sz="2400" i="1" dirty="0" err="1">
                <a:sym typeface="Wingdings" pitchFamily="2" charset="2"/>
              </a:rPr>
              <a:t>frekuensi</a:t>
            </a:r>
            <a:r>
              <a:rPr lang="en-US" altLang="en-US" sz="2400" i="1" dirty="0">
                <a:sym typeface="Wingdings" pitchFamily="2" charset="2"/>
              </a:rPr>
              <a:t> </a:t>
            </a:r>
            <a:r>
              <a:rPr lang="en-US" altLang="en-US" sz="2400" i="1" dirty="0" err="1">
                <a:sym typeface="Wingdings" pitchFamily="2" charset="2"/>
              </a:rPr>
              <a:t>kejadian</a:t>
            </a:r>
            <a:r>
              <a:rPr lang="en-US" altLang="en-US" sz="2400" i="1" dirty="0">
                <a:sym typeface="Wingdings" pitchFamily="2" charset="2"/>
              </a:rPr>
              <a:t> </a:t>
            </a:r>
            <a:r>
              <a:rPr lang="en-US" altLang="en-US" sz="2400" i="1" dirty="0"/>
              <a:t>subjective probability </a:t>
            </a:r>
            <a:r>
              <a:rPr lang="en-US" altLang="en-US" sz="2400" i="1" dirty="0">
                <a:sym typeface="Wingdings" pitchFamily="2" charset="2"/>
              </a:rPr>
              <a:t> </a:t>
            </a:r>
            <a:r>
              <a:rPr lang="en-US" altLang="en-US" sz="2400" i="1" dirty="0" err="1">
                <a:sym typeface="Wingdings" pitchFamily="2" charset="2"/>
              </a:rPr>
              <a:t>berdasarkan</a:t>
            </a:r>
            <a:r>
              <a:rPr lang="en-US" altLang="en-US" sz="2400" i="1" dirty="0">
                <a:sym typeface="Wingdings" pitchFamily="2" charset="2"/>
              </a:rPr>
              <a:t> </a:t>
            </a:r>
            <a:r>
              <a:rPr lang="en-US" altLang="en-US" sz="2400" dirty="0"/>
              <a:t>assessment (</a:t>
            </a:r>
            <a:r>
              <a:rPr lang="en-US" altLang="en-US" sz="2400" dirty="0" err="1"/>
              <a:t>penilaian</a:t>
            </a:r>
            <a:r>
              <a:rPr lang="en-US" altLang="en-US" sz="2400" dirty="0"/>
              <a:t>)</a:t>
            </a:r>
            <a:endParaRPr lang="en-US" altLang="en-US" sz="20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COMPOUND (</a:t>
            </a:r>
            <a:r>
              <a:rPr lang="en-US" err="1"/>
              <a:t>campuran</a:t>
            </a:r>
            <a:r>
              <a:rPr lang="en-US"/>
              <a:t>) PROBABILITIES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Deskripsikan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</a:t>
            </a:r>
            <a:r>
              <a:rPr lang="en-US" dirty="0" err="1"/>
              <a:t>mandiri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mempengaruhi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apapun</a:t>
            </a:r>
            <a:endParaRPr lang="en-US" dirty="0"/>
          </a:p>
          <a:p>
            <a:r>
              <a:rPr lang="en-US" i="1" dirty="0"/>
              <a:t>Joint</a:t>
            </a:r>
            <a:r>
              <a:rPr lang="en-US" dirty="0"/>
              <a:t> probability of two independent events  A and B</a:t>
            </a:r>
          </a:p>
          <a:p>
            <a:pPr lvl="1">
              <a:buNone/>
            </a:pPr>
            <a:r>
              <a:rPr lang="en-US" dirty="0"/>
              <a:t>P(A </a:t>
            </a:r>
            <a:r>
              <a:rPr lang="el-GR" dirty="0">
                <a:latin typeface="Verdana"/>
              </a:rPr>
              <a:t>Π</a:t>
            </a:r>
            <a:r>
              <a:rPr lang="en-US" dirty="0"/>
              <a:t> B) 	= P(A) * P(B)</a:t>
            </a:r>
          </a:p>
          <a:p>
            <a:r>
              <a:rPr lang="en-US" i="1" dirty="0"/>
              <a:t>Union</a:t>
            </a:r>
            <a:r>
              <a:rPr lang="en-US" dirty="0"/>
              <a:t> probability of two independent events A and B</a:t>
            </a:r>
          </a:p>
          <a:p>
            <a:pPr lvl="1">
              <a:buNone/>
            </a:pPr>
            <a:r>
              <a:rPr lang="en-US" dirty="0"/>
              <a:t>P(A U B) 	= P(A) + P(B) - P(A </a:t>
            </a:r>
            <a:r>
              <a:rPr lang="el-GR" dirty="0">
                <a:latin typeface="Verdana"/>
              </a:rPr>
              <a:t>Π</a:t>
            </a:r>
            <a:r>
              <a:rPr lang="en-US" dirty="0"/>
              <a:t> B)</a:t>
            </a:r>
            <a:br>
              <a:rPr lang="en-US" dirty="0"/>
            </a:br>
            <a:r>
              <a:rPr lang="en-US" dirty="0"/>
              <a:t> 		= P(A) + P(B) -  P(A) * P (B)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CONDITIONAL PROBABILITY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 err="1"/>
              <a:t>Definisi</a:t>
            </a:r>
            <a:r>
              <a:rPr lang="en-US" sz="2400"/>
              <a:t> 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/>
              <a:t>P(a | b) = P(a </a:t>
            </a:r>
            <a:r>
              <a:rPr lang="en-US" sz="2000">
                <a:sym typeface="Symbol" pitchFamily="18" charset="2"/>
              </a:rPr>
              <a:t></a:t>
            </a:r>
            <a:r>
              <a:rPr lang="en-US" sz="2000"/>
              <a:t> b) / P(b) if  P(b) &gt; 0
</a:t>
            </a:r>
            <a:endParaRPr lang="en-US" sz="1800"/>
          </a:p>
          <a:p>
            <a:pPr eaLnBrk="1" hangingPunct="1">
              <a:lnSpc>
                <a:spcPct val="80000"/>
              </a:lnSpc>
            </a:pPr>
            <a:r>
              <a:rPr lang="en-US" sz="2400"/>
              <a:t>Alternative Formulation:</a:t>
            </a:r>
          </a:p>
          <a:p>
            <a:pPr>
              <a:lnSpc>
                <a:spcPct val="80000"/>
              </a:lnSpc>
              <a:buNone/>
            </a:pPr>
            <a:r>
              <a:rPr lang="en-US" sz="2400"/>
              <a:t>		</a:t>
            </a:r>
            <a:r>
              <a:rPr lang="en-US" sz="2000"/>
              <a:t>P(a </a:t>
            </a:r>
            <a:r>
              <a:rPr lang="en-US" sz="2000">
                <a:sym typeface="Symbol" pitchFamily="18" charset="2"/>
              </a:rPr>
              <a:t></a:t>
            </a:r>
            <a:r>
              <a:rPr lang="en-US" sz="2000"/>
              <a:t> b) = P(a | b) P(b) = P(b | a) P(a)
</a:t>
            </a:r>
            <a:endParaRPr lang="en-US" sz="2400"/>
          </a:p>
          <a:p>
            <a:pPr>
              <a:lnSpc>
                <a:spcPct val="80000"/>
              </a:lnSpc>
            </a:pPr>
            <a:r>
              <a:rPr lang="en-US" sz="2400" err="1"/>
              <a:t>Contoh</a:t>
            </a:r>
            <a:r>
              <a:rPr lang="en-US" sz="2400" b="1"/>
              <a:t> : </a:t>
            </a:r>
          </a:p>
          <a:p>
            <a:pPr>
              <a:lnSpc>
                <a:spcPct val="80000"/>
              </a:lnSpc>
            </a:pPr>
            <a:r>
              <a:rPr lang="en-US" sz="2400" b="1"/>
              <a:t>P</a:t>
            </a:r>
            <a:r>
              <a:rPr lang="en-US" sz="2400"/>
              <a:t>(</a:t>
            </a:r>
            <a:r>
              <a:rPr lang="en-US" sz="2400" i="1" err="1"/>
              <a:t>Weather,Cavity</a:t>
            </a:r>
            <a:r>
              <a:rPr lang="en-US" sz="2400"/>
              <a:t>) = </a:t>
            </a:r>
            <a:r>
              <a:rPr lang="en-US" sz="2400" b="1"/>
              <a:t>P</a:t>
            </a:r>
            <a:r>
              <a:rPr lang="en-US" sz="2400"/>
              <a:t>(</a:t>
            </a:r>
            <a:r>
              <a:rPr lang="en-US" sz="2400" i="1"/>
              <a:t>Weather | Cavity</a:t>
            </a:r>
            <a:r>
              <a:rPr lang="en-US" sz="2400"/>
              <a:t>) </a:t>
            </a:r>
            <a:r>
              <a:rPr lang="en-US" sz="2400" b="1"/>
              <a:t>P</a:t>
            </a:r>
            <a:r>
              <a:rPr lang="en-US" sz="2400"/>
              <a:t>(</a:t>
            </a:r>
            <a:r>
              <a:rPr lang="en-US" sz="2400" i="1"/>
              <a:t>Cavity</a:t>
            </a:r>
            <a:r>
              <a:rPr lang="en-US" sz="2400"/>
              <a:t>)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000" err="1"/>
              <a:t>Jika</a:t>
            </a:r>
            <a:r>
              <a:rPr lang="en-US" sz="2000"/>
              <a:t> </a:t>
            </a:r>
            <a:r>
              <a:rPr lang="en-US" sz="2000" err="1"/>
              <a:t>dua</a:t>
            </a:r>
            <a:r>
              <a:rPr lang="en-US" sz="2000"/>
              <a:t> </a:t>
            </a:r>
            <a:r>
              <a:rPr lang="en-US" sz="2000" err="1"/>
              <a:t>himpunan</a:t>
            </a:r>
            <a:r>
              <a:rPr lang="en-US" sz="2000"/>
              <a:t> </a:t>
            </a:r>
            <a:r>
              <a:rPr lang="en-US" sz="2000" err="1"/>
              <a:t>proposisi</a:t>
            </a:r>
            <a:r>
              <a:rPr lang="en-US" sz="2000"/>
              <a:t> </a:t>
            </a:r>
            <a:r>
              <a:rPr lang="en-US" sz="2000" err="1"/>
              <a:t>tidak</a:t>
            </a:r>
            <a:r>
              <a:rPr lang="en-US" sz="2000"/>
              <a:t> </a:t>
            </a:r>
            <a:r>
              <a:rPr lang="en-US" sz="2000" err="1"/>
              <a:t>mempengaruhi</a:t>
            </a:r>
            <a:r>
              <a:rPr lang="en-US" sz="2000"/>
              <a:t>  </a:t>
            </a:r>
            <a:r>
              <a:rPr lang="en-US" sz="2000" err="1"/>
              <a:t>probabilitas</a:t>
            </a:r>
            <a:r>
              <a:rPr lang="en-US" sz="2000"/>
              <a:t> </a:t>
            </a:r>
            <a:r>
              <a:rPr lang="en-US" sz="2000" err="1"/>
              <a:t>masing-masing</a:t>
            </a:r>
            <a:r>
              <a:rPr lang="en-US" sz="2000"/>
              <a:t>.  </a:t>
            </a:r>
            <a:r>
              <a:rPr lang="en-US" sz="2000" err="1"/>
              <a:t>Dapat</a:t>
            </a:r>
            <a:r>
              <a:rPr lang="en-US" sz="2000"/>
              <a:t> </a:t>
            </a:r>
            <a:r>
              <a:rPr lang="en-US" sz="2000" err="1"/>
              <a:t>dengan</a:t>
            </a:r>
            <a:r>
              <a:rPr lang="en-US" sz="2000"/>
              <a:t> </a:t>
            </a:r>
            <a:r>
              <a:rPr lang="en-US" sz="2000" err="1"/>
              <a:t>mudah</a:t>
            </a:r>
            <a:r>
              <a:rPr lang="en-US" sz="2000"/>
              <a:t> </a:t>
            </a:r>
            <a:r>
              <a:rPr lang="en-US" sz="2000" err="1"/>
              <a:t>menghitung</a:t>
            </a:r>
            <a:r>
              <a:rPr lang="en-US" sz="2000"/>
              <a:t>  joint and conditional probability:</a:t>
            </a:r>
          </a:p>
          <a:p>
            <a:pPr>
              <a:buNone/>
            </a:pPr>
            <a:r>
              <a:rPr lang="en-US" sz="2000" b="1"/>
              <a:t>		P</a:t>
            </a:r>
            <a:r>
              <a:rPr lang="en-US" sz="2000"/>
              <a:t>(</a:t>
            </a:r>
            <a:r>
              <a:rPr lang="en-US" sz="2000" i="1"/>
              <a:t>A|B</a:t>
            </a:r>
            <a:r>
              <a:rPr lang="en-US" sz="2000"/>
              <a:t>) = </a:t>
            </a:r>
            <a:r>
              <a:rPr lang="en-US" sz="2000" b="1"/>
              <a:t>P</a:t>
            </a:r>
            <a:r>
              <a:rPr lang="en-US" sz="2000"/>
              <a:t>(</a:t>
            </a:r>
            <a:r>
              <a:rPr lang="en-US" sz="2000" i="1"/>
              <a:t>A</a:t>
            </a:r>
            <a:r>
              <a:rPr lang="en-US" sz="2000"/>
              <a:t>)    or </a:t>
            </a:r>
            <a:r>
              <a:rPr lang="en-US" sz="2000" b="1"/>
              <a:t>P</a:t>
            </a:r>
            <a:r>
              <a:rPr lang="en-US" sz="2000"/>
              <a:t>(</a:t>
            </a:r>
            <a:r>
              <a:rPr lang="en-US" sz="2000" i="1"/>
              <a:t>B|A</a:t>
            </a:r>
            <a:r>
              <a:rPr lang="en-US" sz="2000"/>
              <a:t>) = </a:t>
            </a:r>
            <a:r>
              <a:rPr lang="en-US" sz="2000" b="1"/>
              <a:t>P</a:t>
            </a:r>
            <a:r>
              <a:rPr lang="en-US" sz="2000"/>
              <a:t>(</a:t>
            </a:r>
            <a:r>
              <a:rPr lang="en-US" sz="2000" i="1"/>
              <a:t>B</a:t>
            </a:r>
            <a:r>
              <a:rPr lang="en-US" sz="2000"/>
              <a:t>)     or </a:t>
            </a:r>
            <a:r>
              <a:rPr lang="en-US" sz="2000" b="1"/>
              <a:t>P</a:t>
            </a:r>
            <a:r>
              <a:rPr lang="en-US" sz="2000"/>
              <a:t>(A, B) = </a:t>
            </a:r>
            <a:r>
              <a:rPr lang="en-US" sz="2000" b="1"/>
              <a:t>P</a:t>
            </a:r>
            <a:r>
              <a:rPr lang="en-US" sz="2000"/>
              <a:t>(</a:t>
            </a:r>
            <a:r>
              <a:rPr lang="en-US" sz="2000" i="1"/>
              <a:t>A</a:t>
            </a:r>
            <a:r>
              <a:rPr lang="en-US" sz="2000"/>
              <a:t>) </a:t>
            </a:r>
            <a:r>
              <a:rPr lang="en-US" sz="2000" b="1"/>
              <a:t>P</a:t>
            </a:r>
            <a:r>
              <a:rPr lang="en-US" sz="2000"/>
              <a:t>(</a:t>
            </a:r>
            <a:r>
              <a:rPr lang="en-US" sz="2000" i="1"/>
              <a:t>B</a:t>
            </a:r>
            <a:r>
              <a:rPr lang="en-US" sz="2000"/>
              <a:t>)
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pPr lvl="1">
              <a:buNone/>
            </a:pPr>
            <a:endParaRPr lang="en-US" sz="1800" b="1"/>
          </a:p>
          <a:p>
            <a:pPr lvl="1">
              <a:buNone/>
            </a:pPr>
            <a:r>
              <a:rPr lang="en-US" sz="1800" b="1"/>
              <a:t>P</a:t>
            </a:r>
            <a:r>
              <a:rPr lang="en-US" sz="1800"/>
              <a:t>(</a:t>
            </a:r>
            <a:r>
              <a:rPr lang="en-US" sz="1800" i="1"/>
              <a:t>Toothache, Catch, Cavity, Weather</a:t>
            </a:r>
            <a:r>
              <a:rPr lang="en-US" sz="1800"/>
              <a:t>)</a:t>
            </a:r>
          </a:p>
          <a:p>
            <a:pPr lvl="1">
              <a:buNone/>
            </a:pPr>
            <a:r>
              <a:rPr lang="en-US" sz="1800"/>
              <a:t>	= </a:t>
            </a:r>
            <a:r>
              <a:rPr lang="en-US" sz="1800" b="1"/>
              <a:t>P</a:t>
            </a:r>
            <a:r>
              <a:rPr lang="en-US" sz="1800"/>
              <a:t>(</a:t>
            </a:r>
            <a:r>
              <a:rPr lang="en-US" sz="1800" i="1"/>
              <a:t>Toothache, Catch, Cavity</a:t>
            </a:r>
            <a:r>
              <a:rPr lang="en-US" sz="1800"/>
              <a:t>) </a:t>
            </a:r>
            <a:r>
              <a:rPr lang="en-US" sz="1800" b="1"/>
              <a:t>P</a:t>
            </a:r>
            <a:r>
              <a:rPr lang="en-US" sz="1800"/>
              <a:t>(</a:t>
            </a:r>
            <a:r>
              <a:rPr lang="en-US" sz="1800" i="1"/>
              <a:t>Weather</a:t>
            </a:r>
            <a:r>
              <a:rPr lang="en-US" sz="1800"/>
              <a:t>)</a:t>
            </a:r>
          </a:p>
          <a:p>
            <a:endParaRPr lang="en-US"/>
          </a:p>
        </p:txBody>
      </p:sp>
      <p:pic>
        <p:nvPicPr>
          <p:cNvPr id="4" name="Picture 4" descr="weather-independenc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0232" y="2428868"/>
            <a:ext cx="4929222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PENDEKATAN BAYESIAN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z="2400" err="1"/>
              <a:t>Memperoleh</a:t>
            </a:r>
            <a:r>
              <a:rPr lang="en-US" altLang="en-US" sz="2400"/>
              <a:t> </a:t>
            </a:r>
            <a:r>
              <a:rPr lang="en-US" altLang="en-US" sz="2400" err="1"/>
              <a:t>probabilitas</a:t>
            </a:r>
            <a:r>
              <a:rPr lang="en-US" altLang="en-US" sz="2400"/>
              <a:t> </a:t>
            </a:r>
            <a:r>
              <a:rPr lang="en-US" altLang="en-US" sz="2400" err="1"/>
              <a:t>sebuah</a:t>
            </a:r>
            <a:r>
              <a:rPr lang="en-US" altLang="en-US" sz="2400"/>
              <a:t> </a:t>
            </a:r>
            <a:r>
              <a:rPr lang="en-US" altLang="en-US" sz="2400" err="1"/>
              <a:t>kejadian</a:t>
            </a:r>
            <a:r>
              <a:rPr lang="en-US" altLang="en-US" sz="2400"/>
              <a:t> </a:t>
            </a:r>
            <a:r>
              <a:rPr lang="en-US" altLang="en-US" sz="2400" err="1"/>
              <a:t>dari</a:t>
            </a:r>
            <a:r>
              <a:rPr lang="en-US" altLang="en-US" sz="2400"/>
              <a:t> </a:t>
            </a:r>
            <a:r>
              <a:rPr lang="en-US" altLang="en-US" sz="2400" err="1"/>
              <a:t>kejadian</a:t>
            </a:r>
            <a:r>
              <a:rPr lang="en-US" altLang="en-US" sz="2400"/>
              <a:t> lain</a:t>
            </a:r>
          </a:p>
          <a:p>
            <a:r>
              <a:rPr lang="en-US" altLang="en-US" sz="2400" err="1">
                <a:ea typeface="Times New Roman" charset="0"/>
              </a:rPr>
              <a:t>Berguna</a:t>
            </a:r>
            <a:r>
              <a:rPr lang="en-US" altLang="en-US" sz="2400">
                <a:ea typeface="Times New Roman" charset="0"/>
              </a:rPr>
              <a:t> </a:t>
            </a:r>
            <a:r>
              <a:rPr lang="en-US" altLang="en-US" sz="2400" err="1">
                <a:ea typeface="Times New Roman" charset="0"/>
              </a:rPr>
              <a:t>untuk</a:t>
            </a:r>
            <a:r>
              <a:rPr lang="en-US" altLang="en-US" sz="2400">
                <a:ea typeface="Times New Roman" charset="0"/>
              </a:rPr>
              <a:t> diagnosis : </a:t>
            </a:r>
          </a:p>
          <a:p>
            <a:pPr lvl="1"/>
            <a:r>
              <a:rPr lang="en-US" altLang="en-US" sz="2100">
                <a:ea typeface="Times New Roman" charset="0"/>
              </a:rPr>
              <a:t>If X are (observed) effects and Y are (hidden) causes,  ( if  Y </a:t>
            </a:r>
            <a:r>
              <a:rPr lang="en-US" altLang="en-US" sz="2100">
                <a:ea typeface="Times New Roman" charset="0"/>
                <a:sym typeface="Wingdings" pitchFamily="2" charset="2"/>
              </a:rPr>
              <a:t> X )</a:t>
            </a:r>
            <a:endParaRPr lang="en-US" altLang="en-US" sz="2100">
              <a:ea typeface="Times New Roman" charset="0"/>
            </a:endParaRPr>
          </a:p>
          <a:p>
            <a:pPr lvl="1"/>
            <a:r>
              <a:rPr lang="en-US" altLang="en-US" sz="2100">
                <a:ea typeface="Times New Roman" charset="0"/>
              </a:rPr>
              <a:t>Model  </a:t>
            </a:r>
            <a:r>
              <a:rPr lang="en-US" altLang="en-US" sz="2100" err="1">
                <a:ea typeface="Times New Roman" charset="0"/>
              </a:rPr>
              <a:t>bagaimana</a:t>
            </a:r>
            <a:r>
              <a:rPr lang="en-US" altLang="en-US" sz="2100">
                <a:ea typeface="Times New Roman" charset="0"/>
              </a:rPr>
              <a:t>  </a:t>
            </a:r>
            <a:r>
              <a:rPr lang="en-US" altLang="en-US" sz="2100" err="1">
                <a:ea typeface="Times New Roman" charset="0"/>
              </a:rPr>
              <a:t>sebab</a:t>
            </a:r>
            <a:r>
              <a:rPr lang="en-US" altLang="en-US" sz="2100">
                <a:ea typeface="Times New Roman" charset="0"/>
              </a:rPr>
              <a:t> </a:t>
            </a:r>
            <a:r>
              <a:rPr lang="en-US" altLang="en-US" sz="2100" err="1">
                <a:ea typeface="Times New Roman" charset="0"/>
              </a:rPr>
              <a:t>mengarah</a:t>
            </a:r>
            <a:r>
              <a:rPr lang="en-US" altLang="en-US" sz="2100">
                <a:ea typeface="Times New Roman" charset="0"/>
              </a:rPr>
              <a:t> </a:t>
            </a:r>
            <a:r>
              <a:rPr lang="en-US" altLang="en-US" sz="2100" err="1">
                <a:ea typeface="Times New Roman" charset="0"/>
              </a:rPr>
              <a:t>pada</a:t>
            </a:r>
            <a:r>
              <a:rPr lang="en-US" altLang="en-US" sz="2100">
                <a:ea typeface="Times New Roman" charset="0"/>
              </a:rPr>
              <a:t> </a:t>
            </a:r>
            <a:r>
              <a:rPr lang="en-US" altLang="en-US" sz="2100" err="1">
                <a:ea typeface="Times New Roman" charset="0"/>
              </a:rPr>
              <a:t>akibat</a:t>
            </a:r>
            <a:r>
              <a:rPr lang="en-US" altLang="en-US" sz="2100">
                <a:ea typeface="Times New Roman" charset="0"/>
              </a:rPr>
              <a:t>  ( P(X | Y) )</a:t>
            </a:r>
          </a:p>
          <a:p>
            <a:pPr lvl="1"/>
            <a:r>
              <a:rPr lang="en-US" altLang="en-US" sz="2100">
                <a:ea typeface="Times New Roman" charset="0"/>
              </a:rPr>
              <a:t>Prior beliefs (</a:t>
            </a:r>
            <a:r>
              <a:rPr lang="en-US" altLang="en-US" sz="2100" err="1">
                <a:ea typeface="Times New Roman" charset="0"/>
              </a:rPr>
              <a:t>berdasarkan</a:t>
            </a:r>
            <a:r>
              <a:rPr lang="en-US" altLang="en-US" sz="2100">
                <a:ea typeface="Times New Roman" charset="0"/>
              </a:rPr>
              <a:t> </a:t>
            </a:r>
            <a:r>
              <a:rPr lang="en-US" altLang="en-US" sz="2100" err="1">
                <a:ea typeface="Times New Roman" charset="0"/>
              </a:rPr>
              <a:t>pengalaman</a:t>
            </a:r>
            <a:r>
              <a:rPr lang="en-US" altLang="en-US" sz="2100">
                <a:ea typeface="Times New Roman" charset="0"/>
              </a:rPr>
              <a:t>) </a:t>
            </a:r>
            <a:r>
              <a:rPr lang="en-US" altLang="en-US" sz="2100" err="1">
                <a:ea typeface="Times New Roman" charset="0"/>
              </a:rPr>
              <a:t>tentang</a:t>
            </a:r>
            <a:r>
              <a:rPr lang="en-US" altLang="en-US" sz="2100">
                <a:ea typeface="Times New Roman" charset="0"/>
              </a:rPr>
              <a:t> </a:t>
            </a:r>
            <a:r>
              <a:rPr lang="en-US" altLang="en-US" sz="2100" err="1">
                <a:ea typeface="Times New Roman" charset="0"/>
              </a:rPr>
              <a:t>frekuensi</a:t>
            </a:r>
            <a:r>
              <a:rPr lang="en-US" altLang="en-US" sz="2100">
                <a:ea typeface="Times New Roman" charset="0"/>
              </a:rPr>
              <a:t>  </a:t>
            </a:r>
            <a:r>
              <a:rPr lang="en-US" altLang="en-US" sz="2100" err="1">
                <a:ea typeface="Times New Roman" charset="0"/>
              </a:rPr>
              <a:t>terjadinya</a:t>
            </a:r>
            <a:r>
              <a:rPr lang="en-US" altLang="en-US" sz="2100">
                <a:ea typeface="Times New Roman" charset="0"/>
              </a:rPr>
              <a:t> </a:t>
            </a:r>
            <a:r>
              <a:rPr lang="en-US" altLang="en-US" sz="2100" err="1">
                <a:ea typeface="Times New Roman" charset="0"/>
              </a:rPr>
              <a:t>akibat</a:t>
            </a:r>
            <a:r>
              <a:rPr lang="en-US" altLang="en-US" sz="2100">
                <a:ea typeface="Times New Roman" charset="0"/>
              </a:rPr>
              <a:t>  (P(Y))</a:t>
            </a:r>
          </a:p>
          <a:p>
            <a:pPr lvl="1"/>
            <a:r>
              <a:rPr lang="en-US" altLang="en-US" sz="2100">
                <a:ea typeface="Times New Roman" charset="0"/>
              </a:rPr>
              <a:t>Yang  </a:t>
            </a:r>
            <a:r>
              <a:rPr lang="en-US" altLang="en-US" sz="2100" err="1">
                <a:ea typeface="Times New Roman" charset="0"/>
              </a:rPr>
              <a:t>memungkinkan</a:t>
            </a:r>
            <a:r>
              <a:rPr lang="en-US" altLang="en-US" sz="2100">
                <a:ea typeface="Times New Roman" charset="0"/>
              </a:rPr>
              <a:t> untuk menalar secara abduktif dari akibat ke sebab (P(Y | X)).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4279C7-165E-E748-5119-C95D7EEB9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NAÏVE BAYES</a:t>
            </a:r>
            <a:endParaRPr lang="en-ID" sz="36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7F94C0-02BD-7DDE-1D05-2BB4AFFB4E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5475AD-CD8D-0416-6CC5-D67D2DB6CA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B03F9F-1ED0-1632-5790-0F2D6534E6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1357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0"/>
            <a:ext cx="5467459" cy="972615"/>
          </a:xfrm>
        </p:spPr>
        <p:txBody>
          <a:bodyPr>
            <a:normAutofit fontScale="90000"/>
          </a:bodyPr>
          <a:lstStyle/>
          <a:p>
            <a:r>
              <a:rPr lang="en-US" dirty="0"/>
              <a:t>Naïve Bayes data </a:t>
            </a:r>
            <a:r>
              <a:rPr lang="en-US" dirty="0" err="1"/>
              <a:t>kategorial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E8188-6C0A-9C77-511F-82FCEF0108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828856" y="1200150"/>
            <a:ext cx="740664" cy="183377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B96AC9A-5F59-C9E9-58FD-8132F004E4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560" y="1484784"/>
                <a:ext cx="8127167" cy="3360348"/>
              </a:xfrm>
            </p:spPr>
            <p:txBody>
              <a:bodyPr>
                <a:noAutofit/>
              </a:bodyPr>
              <a:lstStyle/>
              <a:p>
                <a:pPr marL="214313" indent="-21431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Membuat data set D,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berisi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tuple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berukuran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n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dimana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14313" indent="-21431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Menentukan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nilai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prior</a:t>
                </a:r>
              </a:p>
              <a:p>
                <a:pPr marL="214313" indent="-21431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Menghitung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peluang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untuk</a:t>
                </a:r>
                <a:r>
                  <a:rPr lang="en-US" sz="2000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setiap</a:t>
                </a:r>
                <a:r>
                  <a:rPr lang="en-US" sz="2000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kelas</a:t>
                </a:r>
                <a:r>
                  <a:rPr lang="en-US" sz="2000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14313" indent="-21431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Jika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ada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probabilitas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bernilai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0,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lakukan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Laplacian correction</a:t>
                </a:r>
              </a:p>
              <a:p>
                <a:pPr marL="214313" indent="-21431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Hasil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pelatihan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adalah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sebanyak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table,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yaitu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satu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table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probabilitas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kelas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dan n table yang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berisi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probabilitas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setiap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nilai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pada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semua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atribut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ada</a:t>
                </a:r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14313" indent="-21431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Menghitung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posterior</a:t>
                </a:r>
              </a:p>
              <a:p>
                <a:pPr marL="214313" indent="-21431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Menentukan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nilai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maksimum</a:t>
                </a:r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14313" indent="-21431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D" sz="1400" dirty="0">
                  <a:latin typeface="Arial Nova Light" panose="020B03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B96AC9A-5F59-C9E9-58FD-8132F004E4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1484784"/>
                <a:ext cx="8127167" cy="3360348"/>
              </a:xfrm>
              <a:blipFill>
                <a:blip r:embed="rId3"/>
                <a:stretch>
                  <a:fillRect l="-225" r="-750" b="-4065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3549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17B75322-165A-E1DB-02BA-963B699912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85950" y="692697"/>
                <a:ext cx="7150546" cy="5760640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>
                <a:lvl1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100" dirty="0">
                    <a:solidFill>
                      <a:schemeClr val="tx1"/>
                    </a:solidFill>
                  </a:rPr>
                  <a:t>Menghitung prior: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100" dirty="0">
                    <a:solidFill>
                      <a:schemeClr val="tx1"/>
                    </a:solidFill>
                  </a:rPr>
                  <a:t>Dimana: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adalah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banyaknya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tupel</a:t>
                </a:r>
                <a:r>
                  <a:rPr lang="en-US" sz="2100" dirty="0">
                    <a:solidFill>
                      <a:schemeClr val="tx1"/>
                    </a:solidFill>
                  </a:rPr>
                  <a:t> di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kelas</a:t>
                </a:r>
                <a14:m>
                  <m:oMath xmlns:m="http://schemas.openxmlformats.org/officeDocument/2006/math">
                    <m:r>
                      <a:rPr lang="en-US" sz="2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tx1"/>
                    </a:solidFill>
                  </a:rPr>
                  <a:t> dan N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adalah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banyaknya</a:t>
                </a:r>
                <a:r>
                  <a:rPr lang="en-US" sz="2100" dirty="0">
                    <a:solidFill>
                      <a:schemeClr val="tx1"/>
                    </a:solidFill>
                  </a:rPr>
                  <a:t> data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latih</a:t>
                </a:r>
                <a:endParaRPr lang="en-US" sz="21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100" dirty="0">
                  <a:solidFill>
                    <a:schemeClr val="tx1"/>
                  </a:solidFill>
                </a:endParaRPr>
              </a:p>
              <a:p>
                <a:r>
                  <a:rPr lang="en-US" sz="2100" dirty="0" err="1">
                    <a:solidFill>
                      <a:schemeClr val="tx1"/>
                    </a:solidFill>
                  </a:rPr>
                  <a:t>Menghitung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peluang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atribut</a:t>
                </a:r>
                <a:r>
                  <a:rPr lang="en-US" sz="2100" dirty="0">
                    <a:solidFill>
                      <a:schemeClr val="tx1"/>
                    </a:solidFill>
                  </a:rPr>
                  <a:t> per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kelas</a:t>
                </a:r>
                <a:endParaRPr lang="en-US" sz="21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21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100" dirty="0">
                    <a:solidFill>
                      <a:schemeClr val="tx1"/>
                    </a:solidFill>
                  </a:rPr>
                  <a:t>Dimana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adalah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banyaknya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tupel</a:t>
                </a:r>
                <a:r>
                  <a:rPr lang="en-US" sz="2100" dirty="0">
                    <a:solidFill>
                      <a:schemeClr val="tx1"/>
                    </a:solidFill>
                  </a:rPr>
                  <a:t> yang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termasuk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atribut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dengan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kelas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tx1"/>
                    </a:solidFill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adalah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banyaknya</a:t>
                </a:r>
                <a:r>
                  <a:rPr lang="en-US" sz="2100" dirty="0">
                    <a:solidFill>
                      <a:schemeClr val="tx1"/>
                    </a:solidFill>
                  </a:rPr>
                  <a:t> tuple di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kelas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1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100" dirty="0">
                  <a:solidFill>
                    <a:schemeClr val="tx1"/>
                  </a:solidFill>
                </a:endParaRPr>
              </a:p>
              <a:p>
                <a:r>
                  <a:rPr lang="en-US" sz="2100" dirty="0" err="1">
                    <a:solidFill>
                      <a:schemeClr val="tx1"/>
                    </a:solidFill>
                  </a:rPr>
                  <a:t>Menghitung</a:t>
                </a:r>
                <a:r>
                  <a:rPr lang="en-US" sz="2100" dirty="0">
                    <a:solidFill>
                      <a:schemeClr val="tx1"/>
                    </a:solidFill>
                  </a:rPr>
                  <a:t> posterior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2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1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100" dirty="0">
                    <a:solidFill>
                      <a:schemeClr val="tx1"/>
                    </a:solidFill>
                  </a:rPr>
                  <a:t>Dimana n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adalah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banyaknya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atribut</a:t>
                </a:r>
                <a:endParaRPr 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17B75322-165A-E1DB-02BA-963B69991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950" y="692697"/>
                <a:ext cx="7150546" cy="5760640"/>
              </a:xfrm>
              <a:prstGeom prst="rect">
                <a:avLst/>
              </a:prstGeom>
              <a:blipFill>
                <a:blip r:embed="rId3"/>
                <a:stretch>
                  <a:fillRect l="-767" t="-63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CONTOH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err="1"/>
              <a:t>Diketahui</a:t>
            </a:r>
            <a:r>
              <a:rPr lang="en-US"/>
              <a:t> :</a:t>
            </a:r>
          </a:p>
          <a:p>
            <a:pPr lvl="1">
              <a:lnSpc>
                <a:spcPct val="90000"/>
              </a:lnSpc>
            </a:pPr>
            <a:r>
              <a:rPr lang="en-US"/>
              <a:t>Stiff neck </a:t>
            </a:r>
            <a:r>
              <a:rPr lang="en-US" err="1"/>
              <a:t>adalah</a:t>
            </a:r>
            <a:r>
              <a:rPr lang="en-US"/>
              <a:t> </a:t>
            </a:r>
            <a:r>
              <a:rPr lang="en-US" err="1"/>
              <a:t>gejala</a:t>
            </a:r>
            <a:r>
              <a:rPr lang="en-US"/>
              <a:t>  </a:t>
            </a:r>
            <a:r>
              <a:rPr lang="en-US" err="1"/>
              <a:t>pada</a:t>
            </a:r>
            <a:r>
              <a:rPr lang="en-US"/>
              <a:t> 50%  </a:t>
            </a:r>
            <a:r>
              <a:rPr lang="en-US" err="1"/>
              <a:t>kasus</a:t>
            </a:r>
            <a:r>
              <a:rPr lang="en-US"/>
              <a:t> meningitis </a:t>
            </a:r>
          </a:p>
          <a:p>
            <a:pPr lvl="1">
              <a:lnSpc>
                <a:spcPct val="90000"/>
              </a:lnSpc>
            </a:pPr>
            <a:r>
              <a:rPr lang="en-US"/>
              <a:t>Meningitis (m) </a:t>
            </a:r>
            <a:r>
              <a:rPr lang="en-US" err="1"/>
              <a:t>terjadi</a:t>
            </a:r>
            <a:r>
              <a:rPr lang="en-US"/>
              <a:t> </a:t>
            </a:r>
            <a:r>
              <a:rPr lang="en-US" err="1"/>
              <a:t>dalam</a:t>
            </a:r>
            <a:r>
              <a:rPr lang="en-US"/>
              <a:t> 1/50,000 </a:t>
            </a:r>
            <a:r>
              <a:rPr lang="en-US" err="1"/>
              <a:t>pasien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Stiff neck (s) </a:t>
            </a:r>
            <a:r>
              <a:rPr lang="en-US" err="1"/>
              <a:t>terjadi</a:t>
            </a:r>
            <a:r>
              <a:rPr lang="en-US"/>
              <a:t> </a:t>
            </a:r>
            <a:r>
              <a:rPr lang="en-US" err="1"/>
              <a:t>dalam</a:t>
            </a:r>
            <a:r>
              <a:rPr lang="en-US"/>
              <a:t> 1/20 </a:t>
            </a:r>
            <a:r>
              <a:rPr lang="en-US" err="1"/>
              <a:t>pasien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err="1"/>
              <a:t>maka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P(</a:t>
            </a:r>
            <a:r>
              <a:rPr lang="en-US" err="1"/>
              <a:t>s|m</a:t>
            </a:r>
            <a:r>
              <a:rPr lang="en-US"/>
              <a:t>) = 0.5, P(m) = 1/50000, P(s) = 1/20</a:t>
            </a:r>
          </a:p>
          <a:p>
            <a:pPr lvl="1">
              <a:lnSpc>
                <a:spcPct val="90000"/>
              </a:lnSpc>
            </a:pPr>
            <a:r>
              <a:rPr lang="en-US"/>
              <a:t>P(</a:t>
            </a:r>
            <a:r>
              <a:rPr lang="en-US" err="1"/>
              <a:t>m|s</a:t>
            </a:r>
            <a:r>
              <a:rPr lang="en-US"/>
              <a:t>) = (P(</a:t>
            </a:r>
            <a:r>
              <a:rPr lang="en-US" err="1"/>
              <a:t>s|m</a:t>
            </a:r>
            <a:r>
              <a:rPr lang="en-US"/>
              <a:t>) P(m))/P(s)</a:t>
            </a:r>
          </a:p>
          <a:p>
            <a:pPr lvl="1">
              <a:lnSpc>
                <a:spcPct val="90000"/>
              </a:lnSpc>
              <a:buNone/>
            </a:pPr>
            <a:r>
              <a:rPr lang="en-US"/>
              <a:t>            = (0.5 x 1/50000) / 1/20  = .0002</a:t>
            </a:r>
          </a:p>
          <a:p>
            <a:pPr>
              <a:lnSpc>
                <a:spcPct val="90000"/>
              </a:lnSpc>
            </a:pPr>
            <a:r>
              <a:rPr lang="en-US" err="1"/>
              <a:t>Jadi</a:t>
            </a:r>
            <a:r>
              <a:rPr lang="en-US"/>
              <a:t> </a:t>
            </a:r>
            <a:r>
              <a:rPr lang="en-US" err="1"/>
              <a:t>dapat</a:t>
            </a:r>
            <a:r>
              <a:rPr lang="en-US"/>
              <a:t> </a:t>
            </a:r>
            <a:r>
              <a:rPr lang="en-US" err="1"/>
              <a:t>dikatakan</a:t>
            </a:r>
            <a:r>
              <a:rPr lang="en-US"/>
              <a:t> </a:t>
            </a:r>
            <a:r>
              <a:rPr lang="en-US" err="1"/>
              <a:t>dari</a:t>
            </a:r>
            <a:r>
              <a:rPr lang="en-US"/>
              <a:t> 5000 </a:t>
            </a:r>
            <a:r>
              <a:rPr lang="en-US" err="1"/>
              <a:t>pasien</a:t>
            </a:r>
            <a:r>
              <a:rPr lang="en-US"/>
              <a:t> </a:t>
            </a:r>
            <a:r>
              <a:rPr lang="en-US" err="1"/>
              <a:t>dengan</a:t>
            </a:r>
            <a:r>
              <a:rPr lang="en-US"/>
              <a:t> </a:t>
            </a:r>
            <a:r>
              <a:rPr lang="en-US" err="1"/>
              <a:t>gejala</a:t>
            </a:r>
            <a:r>
              <a:rPr lang="en-US"/>
              <a:t> stiff neck </a:t>
            </a:r>
            <a:r>
              <a:rPr lang="en-US" err="1"/>
              <a:t>memiliki</a:t>
            </a:r>
            <a:r>
              <a:rPr lang="en-US"/>
              <a:t> meningitis.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0A2BE9DB-1C25-8FBB-57EE-DDCA001E1D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59832" y="2276872"/>
                <a:ext cx="5895534" cy="4076669"/>
              </a:xfrm>
              <a:prstGeom prst="rect">
                <a:avLst/>
              </a:prstGeom>
            </p:spPr>
            <p:txBody>
              <a:bodyPr/>
              <a:lstStyle>
                <a:lvl1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100" dirty="0">
                    <a:solidFill>
                      <a:schemeClr val="tx1"/>
                    </a:solidFill>
                  </a:rPr>
                  <a:t>Laplacian correction</a:t>
                </a:r>
              </a:p>
              <a:p>
                <a:pPr marL="0" indent="0">
                  <a:buNone/>
                </a:pPr>
                <a:r>
                  <a:rPr lang="en-US" sz="2100" dirty="0" err="1">
                    <a:solidFill>
                      <a:schemeClr val="tx1"/>
                    </a:solidFill>
                  </a:rPr>
                  <a:t>Menambah</a:t>
                </a:r>
                <a:r>
                  <a:rPr lang="en-US" sz="2100" dirty="0">
                    <a:solidFill>
                      <a:schemeClr val="tx1"/>
                    </a:solidFill>
                  </a:rPr>
                  <a:t> 1 tuple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pura-pura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untuk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setiap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atribut</a:t>
                </a:r>
                <a:r>
                  <a:rPr lang="en-US" sz="2100" dirty="0">
                    <a:solidFill>
                      <a:schemeClr val="tx1"/>
                    </a:solidFill>
                  </a:rPr>
                  <a:t> yang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ada</a:t>
                </a:r>
                <a:endParaRPr lang="en-US" sz="2100" dirty="0">
                  <a:solidFill>
                    <a:schemeClr val="tx1"/>
                  </a:solidFill>
                </a:endParaRPr>
              </a:p>
              <a:p>
                <a:r>
                  <a:rPr lang="en-US" sz="2100" dirty="0" err="1">
                    <a:solidFill>
                      <a:schemeClr val="tx1"/>
                    </a:solidFill>
                  </a:rPr>
                  <a:t>Penentuan</a:t>
                </a:r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tx1"/>
                    </a:solidFill>
                  </a:rPr>
                  <a:t>kelas</a:t>
                </a:r>
                <a:endParaRPr lang="en-US" sz="21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unc>
                              <m:funcPr>
                                <m:ctrlPr>
                                  <a:rPr lang="en-US" sz="21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rg</m:t>
                                </m:r>
                              </m:fName>
                              <m:e>
                                <m:r>
                                  <a:rPr lang="en-US" sz="21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e>
                            </m:func>
                          </m:e>
                        </m:mr>
                        <m:mr>
                          <m:e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mr>
                      </m:m>
                      <m:r>
                        <a:rPr lang="en-US" sz="2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2100" dirty="0">
                  <a:solidFill>
                    <a:schemeClr val="tx1"/>
                  </a:solidFill>
                </a:endParaRPr>
              </a:p>
              <a:p>
                <a:endParaRPr 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0A2BE9DB-1C25-8FBB-57EE-DDCA001E1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276872"/>
                <a:ext cx="5895534" cy="4076669"/>
              </a:xfrm>
              <a:prstGeom prst="rect">
                <a:avLst/>
              </a:prstGeom>
              <a:blipFill>
                <a:blip r:embed="rId3"/>
                <a:stretch>
                  <a:fillRect l="-1241" t="-119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930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7AE98B-4619-2A50-9099-87F6D26AC6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9895244"/>
              </p:ext>
            </p:extLst>
          </p:nvPr>
        </p:nvGraphicFramePr>
        <p:xfrm>
          <a:off x="1064214" y="817237"/>
          <a:ext cx="7015571" cy="5223525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12741">
                  <a:extLst>
                    <a:ext uri="{9D8B030D-6E8A-4147-A177-3AD203B41FA5}">
                      <a16:colId xmlns:a16="http://schemas.microsoft.com/office/drawing/2014/main" val="412907512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5738308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472070813"/>
                    </a:ext>
                  </a:extLst>
                </a:gridCol>
                <a:gridCol w="1577990">
                  <a:extLst>
                    <a:ext uri="{9D8B030D-6E8A-4147-A177-3AD203B41FA5}">
                      <a16:colId xmlns:a16="http://schemas.microsoft.com/office/drawing/2014/main" val="3261413184"/>
                    </a:ext>
                  </a:extLst>
                </a:gridCol>
                <a:gridCol w="1616528">
                  <a:extLst>
                    <a:ext uri="{9D8B030D-6E8A-4147-A177-3AD203B41FA5}">
                      <a16:colId xmlns:a16="http://schemas.microsoft.com/office/drawing/2014/main" val="930134054"/>
                    </a:ext>
                  </a:extLst>
                </a:gridCol>
              </a:tblGrid>
              <a:tr h="62407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Minuman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Lama Pembuatan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Jumlah Kafein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Harga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Layak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direkomendasikan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3200619048"/>
                  </a:ext>
                </a:extLst>
              </a:tr>
              <a:tr h="31546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M1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Lama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Tinggi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Murah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Ya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2487835278"/>
                  </a:ext>
                </a:extLst>
              </a:tr>
              <a:tr h="31546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M2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Lama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Tinggi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Sangat Mahal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Tidak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1914196686"/>
                  </a:ext>
                </a:extLst>
              </a:tr>
              <a:tr h="31546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M3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Lama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Sedang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Mahal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Ya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3466078579"/>
                  </a:ext>
                </a:extLst>
              </a:tr>
              <a:tr h="31546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M4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Lama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Rendah 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Mahal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Tidak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1355586092"/>
                  </a:ext>
                </a:extLst>
              </a:tr>
              <a:tr h="31546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M5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Cukup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Tinggi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Murah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Ya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3021093729"/>
                  </a:ext>
                </a:extLst>
              </a:tr>
              <a:tr h="31546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M6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Cukup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Sedang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Murah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Tidak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3859733075"/>
                  </a:ext>
                </a:extLst>
              </a:tr>
              <a:tr h="31546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M7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Cukup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Sedang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Sangat Mahal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Ya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1801021252"/>
                  </a:ext>
                </a:extLst>
              </a:tr>
              <a:tr h="31546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M8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Cukup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Tinggi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Murah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Ya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3987162694"/>
                  </a:ext>
                </a:extLst>
              </a:tr>
              <a:tr h="31546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M9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Sebentar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Rendah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Mahal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Ya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3560882774"/>
                  </a:ext>
                </a:extLst>
              </a:tr>
              <a:tr h="31546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M10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Sebentar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Tinggi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Murah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Ya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1743715734"/>
                  </a:ext>
                </a:extLst>
              </a:tr>
              <a:tr h="31546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M11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Sebentar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Tinggi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Sangat Mahal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Tidak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3477589958"/>
                  </a:ext>
                </a:extLst>
              </a:tr>
              <a:tr h="31546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M12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Sebentar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Sedang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Mahal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Ya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1809198573"/>
                  </a:ext>
                </a:extLst>
              </a:tr>
              <a:tr h="31546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M13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Sebentar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Sedang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Murah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Ya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3268153298"/>
                  </a:ext>
                </a:extLst>
              </a:tr>
              <a:tr h="31546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M14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Sebentar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Rendah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Sangat Mahal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Tidak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385" marR="49385" marT="6859" marB="0"/>
                </a:tc>
                <a:extLst>
                  <a:ext uri="{0D108BD9-81ED-4DB2-BD59-A6C34878D82A}">
                    <a16:rowId xmlns:a16="http://schemas.microsoft.com/office/drawing/2014/main" val="1587582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474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278856-582A-EE52-6E81-89178405F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28856" y="1200150"/>
            <a:ext cx="740664" cy="183377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C22CD-33E2-5EAF-24CA-D4E34CFBC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5736" y="519461"/>
            <a:ext cx="7886700" cy="506166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tx1">
                    <a:lumMod val="75000"/>
                  </a:schemeClr>
                </a:solidFill>
              </a:rPr>
              <a:t>Kondisi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 yang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</a:rPr>
              <a:t>ditanyakan</a:t>
            </a:r>
            <a:endParaRPr 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2E18AD-7701-06D2-917A-806E5A8A4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628" y="2132856"/>
            <a:ext cx="7663284" cy="302304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Jika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minuman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Lama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pembuatan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Lama,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Jumlah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kafein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sedang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harga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murah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5347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645C-7D5A-AD0C-DA6E-9C0DC3B4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050" y="387503"/>
            <a:ext cx="6457950" cy="575242"/>
          </a:xfrm>
        </p:spPr>
        <p:txBody>
          <a:bodyPr/>
          <a:lstStyle/>
          <a:p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prior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A4B4858C-23D7-1B2F-F28F-10671DF80D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4697595"/>
              </p:ext>
            </p:extLst>
          </p:nvPr>
        </p:nvGraphicFramePr>
        <p:xfrm>
          <a:off x="2987824" y="1484784"/>
          <a:ext cx="1480185" cy="4456875"/>
        </p:xfrm>
        <a:graphic>
          <a:graphicData uri="http://schemas.openxmlformats.org/drawingml/2006/table">
            <a:tbl>
              <a:tblPr firstRow="1" firstCol="1" bandRow="1">
                <a:tableStyleId>{912C8C85-51F0-491E-9774-3900AFEF0FD7}</a:tableStyleId>
              </a:tblPr>
              <a:tblGrid>
                <a:gridCol w="1480185">
                  <a:extLst>
                    <a:ext uri="{9D8B030D-6E8A-4147-A177-3AD203B41FA5}">
                      <a16:colId xmlns:a16="http://schemas.microsoft.com/office/drawing/2014/main" val="3114645260"/>
                    </a:ext>
                  </a:extLst>
                </a:gridCol>
              </a:tblGrid>
              <a:tr h="48457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dirty="0" err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Layak</a:t>
                      </a:r>
                      <a:r>
                        <a:rPr lang="en-US" sz="1200" u="none" strike="noStrike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direkomendasikan</a:t>
                      </a:r>
                      <a:endParaRPr lang="en-US" sz="1200" b="0" i="0" u="none" strike="noStrike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2041662117"/>
                  </a:ext>
                </a:extLst>
              </a:tr>
              <a:tr h="24454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Ya</a:t>
                      </a:r>
                      <a:endParaRPr lang="en-US" sz="1200" b="0" i="0" u="none" strike="noStrike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165005174"/>
                  </a:ext>
                </a:extLst>
              </a:tr>
              <a:tr h="24454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Tidak</a:t>
                      </a:r>
                      <a:endParaRPr lang="en-US" sz="1200" b="0" i="0" u="none" strike="noStrike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2801683126"/>
                  </a:ext>
                </a:extLst>
              </a:tr>
              <a:tr h="24454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Ya</a:t>
                      </a:r>
                      <a:endParaRPr lang="en-US" sz="1200" b="0" i="0" u="none" strike="noStrike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3962964610"/>
                  </a:ext>
                </a:extLst>
              </a:tr>
              <a:tr h="24454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Tidak</a:t>
                      </a:r>
                      <a:endParaRPr lang="en-US" sz="1200" b="0" i="0" u="none" strike="noStrike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1569172009"/>
                  </a:ext>
                </a:extLst>
              </a:tr>
              <a:tr h="24454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Ya</a:t>
                      </a:r>
                      <a:endParaRPr lang="en-US" sz="1200" b="0" i="0" u="none" strike="noStrike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3778742917"/>
                  </a:ext>
                </a:extLst>
              </a:tr>
              <a:tr h="24454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Tidak</a:t>
                      </a:r>
                      <a:endParaRPr lang="en-US" sz="1200" b="0" i="0" u="none" strike="noStrike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2313148151"/>
                  </a:ext>
                </a:extLst>
              </a:tr>
              <a:tr h="24454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Ya</a:t>
                      </a:r>
                      <a:endParaRPr lang="en-US" sz="1200" b="0" i="0" u="none" strike="noStrike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2018250589"/>
                  </a:ext>
                </a:extLst>
              </a:tr>
              <a:tr h="24454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Ya</a:t>
                      </a:r>
                      <a:endParaRPr lang="en-US" sz="1200" b="0" i="0" u="none" strike="noStrike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595842247"/>
                  </a:ext>
                </a:extLst>
              </a:tr>
              <a:tr h="24454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Ya</a:t>
                      </a:r>
                      <a:endParaRPr lang="en-US" sz="1200" b="0" i="0" u="none" strike="noStrike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58982502"/>
                  </a:ext>
                </a:extLst>
              </a:tr>
              <a:tr h="24454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Ya</a:t>
                      </a:r>
                      <a:endParaRPr lang="en-US" sz="1200" b="0" i="0" u="none" strike="noStrike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146737412"/>
                  </a:ext>
                </a:extLst>
              </a:tr>
              <a:tr h="24454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Tidak</a:t>
                      </a:r>
                      <a:endParaRPr lang="en-US" sz="1200" b="0" i="0" u="none" strike="noStrike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2226509161"/>
                  </a:ext>
                </a:extLst>
              </a:tr>
              <a:tr h="24454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Ya</a:t>
                      </a:r>
                      <a:endParaRPr lang="en-US" sz="1200" b="0" i="0" u="none" strike="noStrike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1514360363"/>
                  </a:ext>
                </a:extLst>
              </a:tr>
              <a:tr h="24454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Ya</a:t>
                      </a:r>
                      <a:endParaRPr lang="en-US" sz="1200" b="0" i="0" u="none" strike="noStrike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4130371559"/>
                  </a:ext>
                </a:extLst>
              </a:tr>
              <a:tr h="24454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dirty="0" err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Tidak</a:t>
                      </a:r>
                      <a:endParaRPr lang="en-US" sz="1200" b="0" i="0" u="none" strike="noStrike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492" marR="32492" marT="4517" marB="0"/>
                </a:tc>
                <a:extLst>
                  <a:ext uri="{0D108BD9-81ED-4DB2-BD59-A6C34878D82A}">
                    <a16:rowId xmlns:a16="http://schemas.microsoft.com/office/drawing/2014/main" val="17579829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F4971F-04BE-0CDF-A6E1-FA4C3B5B7440}"/>
                  </a:ext>
                </a:extLst>
              </p:cNvPr>
              <p:cNvSpPr txBox="1"/>
              <p:nvPr/>
            </p:nvSpPr>
            <p:spPr>
              <a:xfrm>
                <a:off x="4882243" y="1952149"/>
                <a:ext cx="4433207" cy="4143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Misalkan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Kelas </a:t>
                </a:r>
                <a:r>
                  <a:rPr lang="en-US" dirty="0" err="1"/>
                  <a:t>layak</a:t>
                </a:r>
                <a:r>
                  <a:rPr lang="en-US" dirty="0"/>
                  <a:t> </a:t>
                </a:r>
                <a:r>
                  <a:rPr lang="en-US" dirty="0" err="1"/>
                  <a:t>direkomendasikan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Kelas </a:t>
                </a:r>
                <a:r>
                  <a:rPr lang="en-US" dirty="0" err="1"/>
                  <a:t>layak</a:t>
                </a:r>
                <a:r>
                  <a:rPr lang="en-US" dirty="0"/>
                  <a:t> </a:t>
                </a:r>
                <a:r>
                  <a:rPr lang="en-US" dirty="0" err="1"/>
                  <a:t>tidak</a:t>
                </a:r>
                <a:r>
                  <a:rPr lang="en-US" dirty="0"/>
                  <a:t> </a:t>
                </a:r>
                <a:r>
                  <a:rPr lang="en-US" dirty="0" err="1"/>
                  <a:t>direkomendasikan</a:t>
                </a:r>
                <a:endParaRPr lang="en-US" dirty="0"/>
              </a:p>
              <a:p>
                <a:r>
                  <a:rPr lang="en-US" dirty="0" err="1"/>
                  <a:t>Maka</a:t>
                </a:r>
                <a:endParaRPr lang="en-US" dirty="0"/>
              </a:p>
              <a:p>
                <a:r>
                  <a:rPr lang="en-US" dirty="0"/>
                  <a:t>n(T) = 14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sz="2100" b="1" dirty="0"/>
                  <a:t>MAKA</a:t>
                </a:r>
                <a:endParaRPr lang="en-US" sz="1500" b="1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F4971F-04BE-0CDF-A6E1-FA4C3B5B7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243" y="1952149"/>
                <a:ext cx="4433207" cy="4143057"/>
              </a:xfrm>
              <a:prstGeom prst="rect">
                <a:avLst/>
              </a:prstGeom>
              <a:blipFill>
                <a:blip r:embed="rId3"/>
                <a:stretch>
                  <a:fillRect l="-1651" t="-73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916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0E65EDCF-823A-B03F-7CB6-106497F0E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 dirty="0" err="1"/>
              <a:t>Membuat</a:t>
            </a:r>
            <a:r>
              <a:rPr lang="en-US" sz="2100" dirty="0"/>
              <a:t> table </a:t>
            </a:r>
            <a:r>
              <a:rPr lang="en-US" sz="2100" dirty="0" err="1"/>
              <a:t>kontingensi</a:t>
            </a:r>
            <a:endParaRPr lang="en-US" sz="2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5638CE04-D121-D976-5639-ACBC835C4630}"/>
              </a:ext>
            </a:extLst>
          </p:cNvPr>
          <p:cNvGraphicFramePr>
            <a:graphicFrameLocks/>
          </p:cNvGraphicFramePr>
          <p:nvPr/>
        </p:nvGraphicFramePr>
        <p:xfrm>
          <a:off x="310573" y="1605983"/>
          <a:ext cx="7886695" cy="1697356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707736">
                  <a:extLst>
                    <a:ext uri="{9D8B030D-6E8A-4147-A177-3AD203B41FA5}">
                      <a16:colId xmlns:a16="http://schemas.microsoft.com/office/drawing/2014/main" val="4019984655"/>
                    </a:ext>
                  </a:extLst>
                </a:gridCol>
                <a:gridCol w="693381">
                  <a:extLst>
                    <a:ext uri="{9D8B030D-6E8A-4147-A177-3AD203B41FA5}">
                      <a16:colId xmlns:a16="http://schemas.microsoft.com/office/drawing/2014/main" val="760204670"/>
                    </a:ext>
                  </a:extLst>
                </a:gridCol>
                <a:gridCol w="794447">
                  <a:extLst>
                    <a:ext uri="{9D8B030D-6E8A-4147-A177-3AD203B41FA5}">
                      <a16:colId xmlns:a16="http://schemas.microsoft.com/office/drawing/2014/main" val="3461566470"/>
                    </a:ext>
                  </a:extLst>
                </a:gridCol>
                <a:gridCol w="794447">
                  <a:extLst>
                    <a:ext uri="{9D8B030D-6E8A-4147-A177-3AD203B41FA5}">
                      <a16:colId xmlns:a16="http://schemas.microsoft.com/office/drawing/2014/main" val="2384923234"/>
                    </a:ext>
                  </a:extLst>
                </a:gridCol>
                <a:gridCol w="303335">
                  <a:extLst>
                    <a:ext uri="{9D8B030D-6E8A-4147-A177-3AD203B41FA5}">
                      <a16:colId xmlns:a16="http://schemas.microsoft.com/office/drawing/2014/main" val="435689948"/>
                    </a:ext>
                  </a:extLst>
                </a:gridCol>
                <a:gridCol w="693335">
                  <a:extLst>
                    <a:ext uri="{9D8B030D-6E8A-4147-A177-3AD203B41FA5}">
                      <a16:colId xmlns:a16="http://schemas.microsoft.com/office/drawing/2014/main" val="3115468591"/>
                    </a:ext>
                  </a:extLst>
                </a:gridCol>
                <a:gridCol w="693335">
                  <a:extLst>
                    <a:ext uri="{9D8B030D-6E8A-4147-A177-3AD203B41FA5}">
                      <a16:colId xmlns:a16="http://schemas.microsoft.com/office/drawing/2014/main" val="301242789"/>
                    </a:ext>
                  </a:extLst>
                </a:gridCol>
                <a:gridCol w="693335">
                  <a:extLst>
                    <a:ext uri="{9D8B030D-6E8A-4147-A177-3AD203B41FA5}">
                      <a16:colId xmlns:a16="http://schemas.microsoft.com/office/drawing/2014/main" val="1477917505"/>
                    </a:ext>
                  </a:extLst>
                </a:gridCol>
                <a:gridCol w="303335">
                  <a:extLst>
                    <a:ext uri="{9D8B030D-6E8A-4147-A177-3AD203B41FA5}">
                      <a16:colId xmlns:a16="http://schemas.microsoft.com/office/drawing/2014/main" val="3534360911"/>
                    </a:ext>
                  </a:extLst>
                </a:gridCol>
                <a:gridCol w="635558">
                  <a:extLst>
                    <a:ext uri="{9D8B030D-6E8A-4147-A177-3AD203B41FA5}">
                      <a16:colId xmlns:a16="http://schemas.microsoft.com/office/drawing/2014/main" val="1303480757"/>
                    </a:ext>
                  </a:extLst>
                </a:gridCol>
                <a:gridCol w="635558">
                  <a:extLst>
                    <a:ext uri="{9D8B030D-6E8A-4147-A177-3AD203B41FA5}">
                      <a16:colId xmlns:a16="http://schemas.microsoft.com/office/drawing/2014/main" val="3634272791"/>
                    </a:ext>
                  </a:extLst>
                </a:gridCol>
                <a:gridCol w="635558">
                  <a:extLst>
                    <a:ext uri="{9D8B030D-6E8A-4147-A177-3AD203B41FA5}">
                      <a16:colId xmlns:a16="http://schemas.microsoft.com/office/drawing/2014/main" val="3177332863"/>
                    </a:ext>
                  </a:extLst>
                </a:gridCol>
                <a:gridCol w="303335">
                  <a:extLst>
                    <a:ext uri="{9D8B030D-6E8A-4147-A177-3AD203B41FA5}">
                      <a16:colId xmlns:a16="http://schemas.microsoft.com/office/drawing/2014/main" val="2378693167"/>
                    </a:ext>
                  </a:extLst>
                </a:gridCol>
              </a:tblGrid>
              <a:tr h="350044">
                <a:tc rowSpan="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 dirty="0" err="1">
                          <a:effectLst/>
                        </a:rPr>
                        <a:t>Layak</a:t>
                      </a:r>
                      <a:endParaRPr lang="en-US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 gridSpan="3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Lama Pembuatan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∑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 gridSpan="3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Jumlah Kafein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∑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 gridSpan="3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Harga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∑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extLst>
                  <a:ext uri="{0D108BD9-81ED-4DB2-BD59-A6C34878D82A}">
                    <a16:rowId xmlns:a16="http://schemas.microsoft.com/office/drawing/2014/main" val="1637179910"/>
                  </a:ext>
                </a:extLst>
              </a:tr>
              <a:tr h="6243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Lama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effectLst/>
                        </a:rPr>
                        <a:t>Cukup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effectLst/>
                        </a:rPr>
                        <a:t>Sebentar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Tinggi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effectLst/>
                        </a:rPr>
                        <a:t>Sedang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effectLst/>
                        </a:rPr>
                        <a:t>Rendah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effectLst/>
                        </a:rPr>
                        <a:t>Sangat</a:t>
                      </a:r>
                      <a:r>
                        <a:rPr lang="en-US" sz="1400" u="none" strike="noStrike" dirty="0">
                          <a:effectLst/>
                        </a:rPr>
                        <a:t> Mahal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Mahal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effectLst/>
                        </a:rPr>
                        <a:t>Murah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669446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Ya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 dirty="0">
                          <a:effectLst/>
                        </a:rPr>
                        <a:t>3</a:t>
                      </a:r>
                      <a:endParaRPr lang="en-US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 dirty="0">
                          <a:effectLst/>
                        </a:rPr>
                        <a:t>4</a:t>
                      </a:r>
                      <a:endParaRPr lang="en-US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9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4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 dirty="0">
                          <a:effectLst/>
                        </a:rPr>
                        <a:t>4</a:t>
                      </a:r>
                      <a:endParaRPr lang="en-US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9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 dirty="0">
                          <a:effectLst/>
                        </a:rPr>
                        <a:t>1</a:t>
                      </a:r>
                      <a:endParaRPr lang="en-US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 dirty="0">
                          <a:effectLst/>
                        </a:rPr>
                        <a:t>3</a:t>
                      </a:r>
                      <a:endParaRPr lang="en-US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5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9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extLst>
                  <a:ext uri="{0D108BD9-81ED-4DB2-BD59-A6C34878D82A}">
                    <a16:rowId xmlns:a16="http://schemas.microsoft.com/office/drawing/2014/main" val="2022624221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Tidak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2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 dirty="0">
                          <a:effectLst/>
                        </a:rPr>
                        <a:t>2</a:t>
                      </a:r>
                      <a:endParaRPr lang="en-US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5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2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 dirty="0">
                          <a:effectLst/>
                        </a:rPr>
                        <a:t>1</a:t>
                      </a:r>
                      <a:endParaRPr lang="en-US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 dirty="0">
                          <a:effectLst/>
                        </a:rPr>
                        <a:t>2</a:t>
                      </a:r>
                      <a:endParaRPr lang="en-US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5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>
                          <a:effectLst/>
                        </a:rPr>
                        <a:t>3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 dirty="0">
                          <a:effectLst/>
                        </a:rPr>
                        <a:t>1</a:t>
                      </a:r>
                      <a:endParaRPr lang="en-US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 dirty="0">
                          <a:effectLst/>
                        </a:rPr>
                        <a:t>1</a:t>
                      </a:r>
                      <a:endParaRPr lang="en-US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u="none" strike="noStrike" dirty="0">
                          <a:effectLst/>
                        </a:rPr>
                        <a:t>5</a:t>
                      </a:r>
                      <a:endParaRPr lang="en-US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35" marR="51435" marT="7144" marB="0"/>
                </a:tc>
                <a:extLst>
                  <a:ext uri="{0D108BD9-81ED-4DB2-BD59-A6C34878D82A}">
                    <a16:rowId xmlns:a16="http://schemas.microsoft.com/office/drawing/2014/main" val="975165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7EEBC7-C842-6EE7-9715-204E6DCDD311}"/>
                  </a:ext>
                </a:extLst>
              </p:cNvPr>
              <p:cNvSpPr txBox="1"/>
              <p:nvPr/>
            </p:nvSpPr>
            <p:spPr>
              <a:xfrm>
                <a:off x="417855" y="3602133"/>
                <a:ext cx="6086855" cy="2902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Contoh </a:t>
                </a:r>
                <a:r>
                  <a:rPr lang="en-US" dirty="0" err="1"/>
                  <a:t>perhitungan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𝐿𝑎𝑚𝑎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𝑃𝑒𝑚𝑏𝑢𝑎𝑡𝑎𝑛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𝐿𝑎𝑚𝑎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𝐿𝑎𝑦𝑎𝑘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𝑌𝑎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dilihat</a:t>
                </a:r>
                <a:r>
                  <a:rPr lang="en-US" dirty="0"/>
                  <a:t> </a:t>
                </a:r>
                <a:r>
                  <a:rPr lang="en-US" dirty="0" err="1"/>
                  <a:t>didalam</a:t>
                </a:r>
                <a:r>
                  <a:rPr lang="en-US" dirty="0"/>
                  <a:t> table </a:t>
                </a:r>
                <a:r>
                  <a:rPr lang="en-US" dirty="0" err="1"/>
                  <a:t>bahwa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𝑙𝑎𝑚𝑎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𝑝𝑒𝑚𝑏𝑢𝑎𝑡𝑎𝑛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𝑙𝑎𝑚𝑎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𝑑𝑎𝑛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𝑘𝑒𝑙𝑎𝑠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Dan </a:t>
                </a:r>
                <a:r>
                  <a:rPr lang="en-US" dirty="0" err="1"/>
                  <a:t>tadi</a:t>
                </a:r>
                <a:r>
                  <a:rPr lang="en-US" dirty="0"/>
                  <a:t> </a:t>
                </a:r>
                <a:r>
                  <a:rPr lang="en-US" dirty="0" err="1"/>
                  <a:t>sudah</a:t>
                </a:r>
                <a:r>
                  <a:rPr lang="en-US" dirty="0"/>
                  <a:t> </a:t>
                </a:r>
                <a:r>
                  <a:rPr lang="en-US" dirty="0" err="1"/>
                  <a:t>diketahui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-&gt;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𝐿𝑎𝑚𝑎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𝑃𝑒𝑚𝑏𝑢𝑎𝑡𝑎𝑛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𝐿𝑎𝑚𝑎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𝐿𝑎𝑦𝑎𝑘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𝑌𝑎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𝑙𝑎𝑚𝑎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𝑝𝑒𝑚𝑏𝑢𝑎𝑡𝑎𝑛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𝑙𝑎𝑚𝑎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𝑑𝑎𝑛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𝑘𝑒𝑙𝑎𝑠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𝑦𝑎</m:t>
                                </m:r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7EEBC7-C842-6EE7-9715-204E6DCDD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55" y="3602133"/>
                <a:ext cx="6086855" cy="2902398"/>
              </a:xfrm>
              <a:prstGeom prst="rect">
                <a:avLst/>
              </a:prstGeom>
              <a:blipFill>
                <a:blip r:embed="rId3"/>
                <a:stretch>
                  <a:fillRect l="-902" t="-126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937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7DC7B1-6103-D365-60AC-A3B1EEAE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28856" y="1200150"/>
            <a:ext cx="740664" cy="183377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2E4B9B42-B5AC-47F0-CC7C-FE367A0D38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08000" y="343427"/>
                <a:ext cx="6447501" cy="832757"/>
              </a:xfrm>
            </p:spPr>
            <p:txBody>
              <a:bodyPr/>
              <a:lstStyle/>
              <a:p>
                <a:r>
                  <a:rPr lang="en-US" dirty="0"/>
                  <a:t>Menghitung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2E4B9B42-B5AC-47F0-CC7C-FE367A0D38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08000" y="343427"/>
                <a:ext cx="6447501" cy="832757"/>
              </a:xfrm>
              <a:blipFill>
                <a:blip r:embed="rId3"/>
                <a:stretch>
                  <a:fillRect l="-2363" b="-2408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Content Placeholder 4">
                <a:extLst>
                  <a:ext uri="{FF2B5EF4-FFF2-40B4-BE49-F238E27FC236}">
                    <a16:creationId xmlns:a16="http://schemas.microsoft.com/office/drawing/2014/main" id="{118900EF-E2C1-89C3-ADA5-BDF12B0663F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96604524"/>
                  </p:ext>
                </p:extLst>
              </p:nvPr>
            </p:nvGraphicFramePr>
            <p:xfrm>
              <a:off x="1259632" y="1786008"/>
              <a:ext cx="5527220" cy="3285984"/>
            </p:xfrm>
            <a:graphic>
              <a:graphicData uri="http://schemas.openxmlformats.org/drawingml/2006/table">
                <a:tbl>
                  <a:tblPr firstRow="1" firstCol="1" bandRow="1">
                    <a:tableStyleId>{FABFCF23-3B69-468F-B69F-88F6DE6A72F2}</a:tableStyleId>
                  </a:tblPr>
                  <a:tblGrid>
                    <a:gridCol w="1381805">
                      <a:extLst>
                        <a:ext uri="{9D8B030D-6E8A-4147-A177-3AD203B41FA5}">
                          <a16:colId xmlns:a16="http://schemas.microsoft.com/office/drawing/2014/main" val="2065758854"/>
                        </a:ext>
                      </a:extLst>
                    </a:gridCol>
                    <a:gridCol w="1381805">
                      <a:extLst>
                        <a:ext uri="{9D8B030D-6E8A-4147-A177-3AD203B41FA5}">
                          <a16:colId xmlns:a16="http://schemas.microsoft.com/office/drawing/2014/main" val="4285926240"/>
                        </a:ext>
                      </a:extLst>
                    </a:gridCol>
                    <a:gridCol w="1381805">
                      <a:extLst>
                        <a:ext uri="{9D8B030D-6E8A-4147-A177-3AD203B41FA5}">
                          <a16:colId xmlns:a16="http://schemas.microsoft.com/office/drawing/2014/main" val="837365954"/>
                        </a:ext>
                      </a:extLst>
                    </a:gridCol>
                    <a:gridCol w="1381805">
                      <a:extLst>
                        <a:ext uri="{9D8B030D-6E8A-4147-A177-3AD203B41FA5}">
                          <a16:colId xmlns:a16="http://schemas.microsoft.com/office/drawing/2014/main" val="3036365517"/>
                        </a:ext>
                      </a:extLst>
                    </a:gridCol>
                  </a:tblGrid>
                  <a:tr h="418624">
                    <a:tc gridSpan="2"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Data</a:t>
                          </a:r>
                          <a:endParaRPr lang="en-US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algn="ctr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 dirty="0" err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Layak</a:t>
                          </a:r>
                          <a:endParaRPr lang="en-US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3610559"/>
                      </a:ext>
                    </a:extLst>
                  </a:tr>
                  <a:tr h="418624"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Atribut</a:t>
                          </a:r>
                          <a:endParaRPr lang="en-US" sz="1800" b="0" i="0" u="none" strike="noStrike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Nilai</a:t>
                          </a:r>
                          <a:endParaRPr lang="en-US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ctr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YA</a:t>
                          </a:r>
                          <a:endParaRPr lang="en-US" sz="1800" b="0" i="0" u="none" strike="noStrike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ctr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Tidak</a:t>
                          </a:r>
                          <a:endParaRPr lang="en-US" sz="1800" b="0" i="0" u="none" strike="noStrike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extLst>
                      <a:ext uri="{0D108BD9-81ED-4DB2-BD59-A6C34878D82A}">
                        <a16:rowId xmlns:a16="http://schemas.microsoft.com/office/drawing/2014/main" val="2349212941"/>
                      </a:ext>
                    </a:extLst>
                  </a:tr>
                  <a:tr h="830104"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Lama </a:t>
                          </a:r>
                          <a:r>
                            <a:rPr lang="en-US" sz="1800" u="none" strike="noStrike" dirty="0" err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Pembuatan</a:t>
                          </a:r>
                          <a:endParaRPr lang="en-US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Lama</a:t>
                          </a:r>
                          <a:endParaRPr lang="en-US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ctr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ar-AE" sz="1800" i="1" u="none" strike="noStrike" smtClean="0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800" u="none" strike="noStrike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ar-AE" sz="1800" u="none" strike="noStrike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ctr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ar-AE" sz="1800" i="1" u="none" strike="noStrike" smtClean="0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800" u="none" strike="noStrike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ar-AE" sz="1800" u="none" strike="noStrike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800" b="0" i="0" u="none" strike="noStrike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extLst>
                      <a:ext uri="{0D108BD9-81ED-4DB2-BD59-A6C34878D82A}">
                        <a16:rowId xmlns:a16="http://schemas.microsoft.com/office/drawing/2014/main" val="3783356668"/>
                      </a:ext>
                    </a:extLst>
                  </a:tr>
                  <a:tr h="830104"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 dirty="0" err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Jumlah</a:t>
                          </a:r>
                          <a:r>
                            <a:rPr lang="en-US" sz="1800" u="none" strike="noStrike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sz="1800" u="none" strike="noStrike" dirty="0" err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Kafein</a:t>
                          </a:r>
                          <a:endParaRPr lang="en-US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Sedang</a:t>
                          </a:r>
                          <a:endParaRPr lang="en-US" sz="1800" b="0" i="0" u="none" strike="noStrike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ctr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ar-AE" sz="1800" i="1" u="none" strike="noStrike" smtClean="0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800" u="none" strike="noStrike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ar-AE" sz="1800" u="none" strike="noStrike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ctr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ar-AE" sz="1800" i="1" u="none" strike="noStrike" smtClean="0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800" u="none" strike="noStrike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 sz="1800" u="none" strike="noStrike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extLst>
                      <a:ext uri="{0D108BD9-81ED-4DB2-BD59-A6C34878D82A}">
                        <a16:rowId xmlns:a16="http://schemas.microsoft.com/office/drawing/2014/main" val="3820186004"/>
                      </a:ext>
                    </a:extLst>
                  </a:tr>
                  <a:tr h="788528"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Harga</a:t>
                          </a:r>
                          <a:endParaRPr lang="en-US" sz="1800" b="0" i="0" u="none" strike="noStrike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murah</a:t>
                          </a:r>
                          <a:endParaRPr lang="en-US" sz="1800" b="0" i="0" u="none" strike="noStrike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ctr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ar-AE" sz="1800" i="1" u="none" strike="noStrike" smtClean="0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800" u="none" strike="noStrike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ar-AE" sz="1800" u="none" strike="noStrike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800" b="0" i="0" u="none" strike="noStrike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ctr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ar-AE" sz="1800" i="1" u="none" strike="noStrike" smtClean="0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800" u="none" strike="noStrike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 sz="1800" u="none" strike="noStrike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extLst>
                      <a:ext uri="{0D108BD9-81ED-4DB2-BD59-A6C34878D82A}">
                        <a16:rowId xmlns:a16="http://schemas.microsoft.com/office/drawing/2014/main" val="8191111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Content Placeholder 4">
                <a:extLst>
                  <a:ext uri="{FF2B5EF4-FFF2-40B4-BE49-F238E27FC236}">
                    <a16:creationId xmlns:a16="http://schemas.microsoft.com/office/drawing/2014/main" id="{118900EF-E2C1-89C3-ADA5-BDF12B0663F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96604524"/>
                  </p:ext>
                </p:extLst>
              </p:nvPr>
            </p:nvGraphicFramePr>
            <p:xfrm>
              <a:off x="1259632" y="1786008"/>
              <a:ext cx="5527220" cy="3285984"/>
            </p:xfrm>
            <a:graphic>
              <a:graphicData uri="http://schemas.openxmlformats.org/drawingml/2006/table">
                <a:tbl>
                  <a:tblPr firstRow="1" firstCol="1" bandRow="1">
                    <a:tableStyleId>{FABFCF23-3B69-468F-B69F-88F6DE6A72F2}</a:tableStyleId>
                  </a:tblPr>
                  <a:tblGrid>
                    <a:gridCol w="1381805">
                      <a:extLst>
                        <a:ext uri="{9D8B030D-6E8A-4147-A177-3AD203B41FA5}">
                          <a16:colId xmlns:a16="http://schemas.microsoft.com/office/drawing/2014/main" val="2065758854"/>
                        </a:ext>
                      </a:extLst>
                    </a:gridCol>
                    <a:gridCol w="1381805">
                      <a:extLst>
                        <a:ext uri="{9D8B030D-6E8A-4147-A177-3AD203B41FA5}">
                          <a16:colId xmlns:a16="http://schemas.microsoft.com/office/drawing/2014/main" val="4285926240"/>
                        </a:ext>
                      </a:extLst>
                    </a:gridCol>
                    <a:gridCol w="1381805">
                      <a:extLst>
                        <a:ext uri="{9D8B030D-6E8A-4147-A177-3AD203B41FA5}">
                          <a16:colId xmlns:a16="http://schemas.microsoft.com/office/drawing/2014/main" val="837365954"/>
                        </a:ext>
                      </a:extLst>
                    </a:gridCol>
                    <a:gridCol w="1381805">
                      <a:extLst>
                        <a:ext uri="{9D8B030D-6E8A-4147-A177-3AD203B41FA5}">
                          <a16:colId xmlns:a16="http://schemas.microsoft.com/office/drawing/2014/main" val="3036365517"/>
                        </a:ext>
                      </a:extLst>
                    </a:gridCol>
                  </a:tblGrid>
                  <a:tr h="418624">
                    <a:tc gridSpan="2"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Data</a:t>
                          </a:r>
                          <a:endParaRPr lang="en-US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algn="ctr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 dirty="0" err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Layak</a:t>
                          </a:r>
                          <a:endParaRPr lang="en-US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3610559"/>
                      </a:ext>
                    </a:extLst>
                  </a:tr>
                  <a:tr h="418624"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Atribut</a:t>
                          </a:r>
                          <a:endParaRPr lang="en-US" sz="1800" b="0" i="0" u="none" strike="noStrike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Nilai</a:t>
                          </a:r>
                          <a:endParaRPr lang="en-US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ctr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YA</a:t>
                          </a:r>
                          <a:endParaRPr lang="en-US" sz="1800" b="0" i="0" u="none" strike="noStrike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ctr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Tidak</a:t>
                          </a:r>
                          <a:endParaRPr lang="en-US" sz="1800" b="0" i="0" u="none" strike="noStrike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extLst>
                      <a:ext uri="{0D108BD9-81ED-4DB2-BD59-A6C34878D82A}">
                        <a16:rowId xmlns:a16="http://schemas.microsoft.com/office/drawing/2014/main" val="2349212941"/>
                      </a:ext>
                    </a:extLst>
                  </a:tr>
                  <a:tr h="830104"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Lama </a:t>
                          </a:r>
                          <a:r>
                            <a:rPr lang="en-US" sz="1800" u="none" strike="noStrike" dirty="0" err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Pembuatan</a:t>
                          </a:r>
                          <a:endParaRPr lang="en-US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Lama</a:t>
                          </a:r>
                          <a:endParaRPr lang="en-US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4"/>
                          <a:stretch>
                            <a:fillRect l="-200441" t="-101460" r="-100881" b="-1956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4"/>
                          <a:stretch>
                            <a:fillRect l="-300441" t="-101460" r="-881" b="-1956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3356668"/>
                      </a:ext>
                    </a:extLst>
                  </a:tr>
                  <a:tr h="830104"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 dirty="0" err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Jumlah</a:t>
                          </a:r>
                          <a:r>
                            <a:rPr lang="en-US" sz="1800" u="none" strike="noStrike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sz="1800" u="none" strike="noStrike" dirty="0" err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Kafein</a:t>
                          </a:r>
                          <a:endParaRPr lang="en-US" sz="1800" b="0" i="0" u="none" strike="noStrike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Sedang</a:t>
                          </a:r>
                          <a:endParaRPr lang="en-US" sz="1800" b="0" i="0" u="none" strike="noStrike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4"/>
                          <a:stretch>
                            <a:fillRect l="-200441" t="-202941" r="-100881" b="-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4"/>
                          <a:stretch>
                            <a:fillRect l="-300441" t="-202941" r="-881" b="-9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0186004"/>
                      </a:ext>
                    </a:extLst>
                  </a:tr>
                  <a:tr h="788528"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Harga</a:t>
                          </a:r>
                          <a:endParaRPr lang="en-US" sz="1800" b="0" i="0" u="none" strike="noStrike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u="none" strike="noStrike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</a:rPr>
                            <a:t>murah</a:t>
                          </a:r>
                          <a:endParaRPr lang="en-US" sz="1800" b="0" i="0" u="none" strike="noStrike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4"/>
                          <a:stretch>
                            <a:fillRect l="-200441" t="-316923" r="-100881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4"/>
                          <a:stretch>
                            <a:fillRect l="-300441" t="-316923" r="-881" b="-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91111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08687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C319358-E392-B70D-F85A-0447F43FB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9792" y="-14350"/>
            <a:ext cx="4431277" cy="990600"/>
          </a:xfrm>
        </p:spPr>
        <p:txBody>
          <a:bodyPr/>
          <a:lstStyle/>
          <a:p>
            <a:r>
              <a:rPr lang="en-US" dirty="0"/>
              <a:t>Hasil </a:t>
            </a:r>
            <a:r>
              <a:rPr lang="en-US" dirty="0" err="1"/>
              <a:t>Pelatihan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Content Placeholder 4">
                <a:extLst>
                  <a:ext uri="{FF2B5EF4-FFF2-40B4-BE49-F238E27FC236}">
                    <a16:creationId xmlns:a16="http://schemas.microsoft.com/office/drawing/2014/main" id="{825712D2-CE5B-29CB-6727-E175DA91F9C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26356713"/>
                  </p:ext>
                </p:extLst>
              </p:nvPr>
            </p:nvGraphicFramePr>
            <p:xfrm>
              <a:off x="702127" y="1835076"/>
              <a:ext cx="7739745" cy="2314004"/>
            </p:xfrm>
            <a:graphic>
              <a:graphicData uri="http://schemas.openxmlformats.org/drawingml/2006/table">
                <a:tbl>
                  <a:tblPr firstRow="1" firstCol="1" bandRow="1">
                    <a:tableStyleId>{5A111915-BE36-4E01-A7E5-04B1672EAD32}</a:tableStyleId>
                  </a:tblPr>
                  <a:tblGrid>
                    <a:gridCol w="739599">
                      <a:extLst>
                        <a:ext uri="{9D8B030D-6E8A-4147-A177-3AD203B41FA5}">
                          <a16:colId xmlns:a16="http://schemas.microsoft.com/office/drawing/2014/main" val="4019984655"/>
                        </a:ext>
                      </a:extLst>
                    </a:gridCol>
                    <a:gridCol w="495435">
                      <a:extLst>
                        <a:ext uri="{9D8B030D-6E8A-4147-A177-3AD203B41FA5}">
                          <a16:colId xmlns:a16="http://schemas.microsoft.com/office/drawing/2014/main" val="2039755704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760204670"/>
                        </a:ext>
                      </a:extLst>
                    </a:gridCol>
                    <a:gridCol w="789709">
                      <a:extLst>
                        <a:ext uri="{9D8B030D-6E8A-4147-A177-3AD203B41FA5}">
                          <a16:colId xmlns:a16="http://schemas.microsoft.com/office/drawing/2014/main" val="3461566470"/>
                        </a:ext>
                      </a:extLst>
                    </a:gridCol>
                    <a:gridCol w="831273">
                      <a:extLst>
                        <a:ext uri="{9D8B030D-6E8A-4147-A177-3AD203B41FA5}">
                          <a16:colId xmlns:a16="http://schemas.microsoft.com/office/drawing/2014/main" val="2384923234"/>
                        </a:ext>
                      </a:extLst>
                    </a:gridCol>
                    <a:gridCol w="737754">
                      <a:extLst>
                        <a:ext uri="{9D8B030D-6E8A-4147-A177-3AD203B41FA5}">
                          <a16:colId xmlns:a16="http://schemas.microsoft.com/office/drawing/2014/main" val="3115468591"/>
                        </a:ext>
                      </a:extLst>
                    </a:gridCol>
                    <a:gridCol w="651659">
                      <a:extLst>
                        <a:ext uri="{9D8B030D-6E8A-4147-A177-3AD203B41FA5}">
                          <a16:colId xmlns:a16="http://schemas.microsoft.com/office/drawing/2014/main" val="301242789"/>
                        </a:ext>
                      </a:extLst>
                    </a:gridCol>
                    <a:gridCol w="771896">
                      <a:extLst>
                        <a:ext uri="{9D8B030D-6E8A-4147-A177-3AD203B41FA5}">
                          <a16:colId xmlns:a16="http://schemas.microsoft.com/office/drawing/2014/main" val="1477917505"/>
                        </a:ext>
                      </a:extLst>
                    </a:gridCol>
                    <a:gridCol w="737755">
                      <a:extLst>
                        <a:ext uri="{9D8B030D-6E8A-4147-A177-3AD203B41FA5}">
                          <a16:colId xmlns:a16="http://schemas.microsoft.com/office/drawing/2014/main" val="1303480757"/>
                        </a:ext>
                      </a:extLst>
                    </a:gridCol>
                    <a:gridCol w="613064">
                      <a:extLst>
                        <a:ext uri="{9D8B030D-6E8A-4147-A177-3AD203B41FA5}">
                          <a16:colId xmlns:a16="http://schemas.microsoft.com/office/drawing/2014/main" val="3634272791"/>
                        </a:ext>
                      </a:extLst>
                    </a:gridCol>
                    <a:gridCol w="685801">
                      <a:extLst>
                        <a:ext uri="{9D8B030D-6E8A-4147-A177-3AD203B41FA5}">
                          <a16:colId xmlns:a16="http://schemas.microsoft.com/office/drawing/2014/main" val="3177332863"/>
                        </a:ext>
                      </a:extLst>
                    </a:gridCol>
                  </a:tblGrid>
                  <a:tr h="350044">
                    <a:tc rowSpan="2"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u="none" strike="noStrike" dirty="0" err="1">
                              <a:effectLst/>
                            </a:rPr>
                            <a:t>Layak</a:t>
                          </a:r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u="none" strike="noStrike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500" b="0" i="1" u="none" strike="noStrike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 b="0" i="1" u="none" strike="noStrike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500" b="0" i="1" u="none" strike="noStrike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 gridSpan="3"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u="none" strike="noStrike">
                              <a:effectLst/>
                            </a:rPr>
                            <a:t>Lama Pembuatan</a:t>
                          </a:r>
                          <a:endParaRPr lang="en-US" sz="15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u="none" strike="noStrike">
                              <a:effectLst/>
                            </a:rPr>
                            <a:t>Jumlah Kafein</a:t>
                          </a:r>
                          <a:endParaRPr lang="en-US" sz="15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u="none" strike="noStrike" dirty="0">
                              <a:effectLst/>
                            </a:rPr>
                            <a:t>Harga</a:t>
                          </a:r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179910"/>
                      </a:ext>
                    </a:extLst>
                  </a:tr>
                  <a:tr h="62436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>
                              <a:effectLst/>
                            </a:rPr>
                            <a:t>Lama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 err="1">
                              <a:effectLst/>
                            </a:rPr>
                            <a:t>Cukup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 err="1">
                              <a:effectLst/>
                            </a:rPr>
                            <a:t>Sebentar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>
                              <a:effectLst/>
                            </a:rPr>
                            <a:t>Tinggi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 err="1">
                              <a:effectLst/>
                            </a:rPr>
                            <a:t>Sedang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 err="1">
                              <a:effectLst/>
                            </a:rPr>
                            <a:t>Rendah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 err="1">
                              <a:effectLst/>
                            </a:rPr>
                            <a:t>Sangat</a:t>
                          </a:r>
                          <a:r>
                            <a:rPr lang="en-US" sz="1400" u="none" strike="noStrike" dirty="0">
                              <a:effectLst/>
                            </a:rPr>
                            <a:t> Mahal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>
                              <a:effectLst/>
                            </a:rPr>
                            <a:t>Mahal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 err="1">
                              <a:effectLst/>
                            </a:rPr>
                            <a:t>Murah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extLst>
                      <a:ext uri="{0D108BD9-81ED-4DB2-BD59-A6C34878D82A}">
                        <a16:rowId xmlns:a16="http://schemas.microsoft.com/office/drawing/2014/main" val="2263669446"/>
                      </a:ext>
                    </a:extLst>
                  </a:tr>
                  <a:tr h="658368"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u="none" strike="noStrike" dirty="0" err="1">
                              <a:effectLst/>
                            </a:rPr>
                            <a:t>Ya</a:t>
                          </a:r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defTabSz="914400" rtl="0" eaLnBrk="1" fontAlgn="t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extLst>
                      <a:ext uri="{0D108BD9-81ED-4DB2-BD59-A6C34878D82A}">
                        <a16:rowId xmlns:a16="http://schemas.microsoft.com/office/drawing/2014/main" val="2022624221"/>
                      </a:ext>
                    </a:extLst>
                  </a:tr>
                  <a:tr h="658368"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u="none" strike="noStrike" dirty="0" err="1">
                              <a:effectLst/>
                            </a:rPr>
                            <a:t>Tidak</a:t>
                          </a:r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500" b="0" i="1" u="none" strike="noStrike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extLst>
                      <a:ext uri="{0D108BD9-81ED-4DB2-BD59-A6C34878D82A}">
                        <a16:rowId xmlns:a16="http://schemas.microsoft.com/office/drawing/2014/main" val="975165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Content Placeholder 4">
                <a:extLst>
                  <a:ext uri="{FF2B5EF4-FFF2-40B4-BE49-F238E27FC236}">
                    <a16:creationId xmlns:a16="http://schemas.microsoft.com/office/drawing/2014/main" id="{825712D2-CE5B-29CB-6727-E175DA91F9C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26356713"/>
                  </p:ext>
                </p:extLst>
              </p:nvPr>
            </p:nvGraphicFramePr>
            <p:xfrm>
              <a:off x="702127" y="1835076"/>
              <a:ext cx="7739745" cy="2314004"/>
            </p:xfrm>
            <a:graphic>
              <a:graphicData uri="http://schemas.openxmlformats.org/drawingml/2006/table">
                <a:tbl>
                  <a:tblPr firstRow="1" firstCol="1" bandRow="1">
                    <a:tableStyleId>{5A111915-BE36-4E01-A7E5-04B1672EAD32}</a:tableStyleId>
                  </a:tblPr>
                  <a:tblGrid>
                    <a:gridCol w="739599">
                      <a:extLst>
                        <a:ext uri="{9D8B030D-6E8A-4147-A177-3AD203B41FA5}">
                          <a16:colId xmlns:a16="http://schemas.microsoft.com/office/drawing/2014/main" val="4019984655"/>
                        </a:ext>
                      </a:extLst>
                    </a:gridCol>
                    <a:gridCol w="495435">
                      <a:extLst>
                        <a:ext uri="{9D8B030D-6E8A-4147-A177-3AD203B41FA5}">
                          <a16:colId xmlns:a16="http://schemas.microsoft.com/office/drawing/2014/main" val="2039755704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760204670"/>
                        </a:ext>
                      </a:extLst>
                    </a:gridCol>
                    <a:gridCol w="789709">
                      <a:extLst>
                        <a:ext uri="{9D8B030D-6E8A-4147-A177-3AD203B41FA5}">
                          <a16:colId xmlns:a16="http://schemas.microsoft.com/office/drawing/2014/main" val="3461566470"/>
                        </a:ext>
                      </a:extLst>
                    </a:gridCol>
                    <a:gridCol w="831273">
                      <a:extLst>
                        <a:ext uri="{9D8B030D-6E8A-4147-A177-3AD203B41FA5}">
                          <a16:colId xmlns:a16="http://schemas.microsoft.com/office/drawing/2014/main" val="2384923234"/>
                        </a:ext>
                      </a:extLst>
                    </a:gridCol>
                    <a:gridCol w="737754">
                      <a:extLst>
                        <a:ext uri="{9D8B030D-6E8A-4147-A177-3AD203B41FA5}">
                          <a16:colId xmlns:a16="http://schemas.microsoft.com/office/drawing/2014/main" val="3115468591"/>
                        </a:ext>
                      </a:extLst>
                    </a:gridCol>
                    <a:gridCol w="651659">
                      <a:extLst>
                        <a:ext uri="{9D8B030D-6E8A-4147-A177-3AD203B41FA5}">
                          <a16:colId xmlns:a16="http://schemas.microsoft.com/office/drawing/2014/main" val="301242789"/>
                        </a:ext>
                      </a:extLst>
                    </a:gridCol>
                    <a:gridCol w="771896">
                      <a:extLst>
                        <a:ext uri="{9D8B030D-6E8A-4147-A177-3AD203B41FA5}">
                          <a16:colId xmlns:a16="http://schemas.microsoft.com/office/drawing/2014/main" val="1477917505"/>
                        </a:ext>
                      </a:extLst>
                    </a:gridCol>
                    <a:gridCol w="737755">
                      <a:extLst>
                        <a:ext uri="{9D8B030D-6E8A-4147-A177-3AD203B41FA5}">
                          <a16:colId xmlns:a16="http://schemas.microsoft.com/office/drawing/2014/main" val="1303480757"/>
                        </a:ext>
                      </a:extLst>
                    </a:gridCol>
                    <a:gridCol w="613064">
                      <a:extLst>
                        <a:ext uri="{9D8B030D-6E8A-4147-A177-3AD203B41FA5}">
                          <a16:colId xmlns:a16="http://schemas.microsoft.com/office/drawing/2014/main" val="3634272791"/>
                        </a:ext>
                      </a:extLst>
                    </a:gridCol>
                    <a:gridCol w="685801">
                      <a:extLst>
                        <a:ext uri="{9D8B030D-6E8A-4147-A177-3AD203B41FA5}">
                          <a16:colId xmlns:a16="http://schemas.microsoft.com/office/drawing/2014/main" val="3177332863"/>
                        </a:ext>
                      </a:extLst>
                    </a:gridCol>
                  </a:tblGrid>
                  <a:tr h="350044">
                    <a:tc rowSpan="2"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u="none" strike="noStrike" dirty="0" err="1">
                              <a:effectLst/>
                            </a:rPr>
                            <a:t>Layak</a:t>
                          </a:r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 anchor="ctr">
                        <a:blipFill>
                          <a:blip r:embed="rId3"/>
                          <a:stretch>
                            <a:fillRect l="-148780" t="-610" r="-1303659" b="-132927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u="none" strike="noStrike">
                              <a:effectLst/>
                            </a:rPr>
                            <a:t>Lama Pembuatan</a:t>
                          </a:r>
                          <a:endParaRPr lang="en-US" sz="15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u="none" strike="noStrike">
                              <a:effectLst/>
                            </a:rPr>
                            <a:t>Jumlah Kafein</a:t>
                          </a:r>
                          <a:endParaRPr lang="en-US" sz="15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u="none" strike="noStrike" dirty="0">
                              <a:effectLst/>
                            </a:rPr>
                            <a:t>Harga</a:t>
                          </a:r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179910"/>
                      </a:ext>
                    </a:extLst>
                  </a:tr>
                  <a:tr h="64722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>
                              <a:effectLst/>
                            </a:rPr>
                            <a:t>Lama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 err="1">
                              <a:effectLst/>
                            </a:rPr>
                            <a:t>Cukup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 err="1">
                              <a:effectLst/>
                            </a:rPr>
                            <a:t>Sebentar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>
                              <a:effectLst/>
                            </a:rPr>
                            <a:t>Tinggi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 err="1">
                              <a:effectLst/>
                            </a:rPr>
                            <a:t>Sedang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 err="1">
                              <a:effectLst/>
                            </a:rPr>
                            <a:t>Rendah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 err="1">
                              <a:effectLst/>
                            </a:rPr>
                            <a:t>Sangat</a:t>
                          </a:r>
                          <a:r>
                            <a:rPr lang="en-US" sz="1400" u="none" strike="noStrike" dirty="0">
                              <a:effectLst/>
                            </a:rPr>
                            <a:t> Mahal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>
                              <a:effectLst/>
                            </a:rPr>
                            <a:t>Mahal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tc>
                      <a:txBody>
                        <a:bodyPr/>
                        <a:lstStyle/>
                        <a:p>
                          <a:pPr marL="0" marR="0" algn="ctr" font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u="none" strike="noStrike" dirty="0" err="1">
                              <a:effectLst/>
                            </a:rPr>
                            <a:t>Murah</a:t>
                          </a:r>
                          <a:endParaRPr lang="en-US" sz="1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 anchor="ctr"/>
                    </a:tc>
                    <a:extLst>
                      <a:ext uri="{0D108BD9-81ED-4DB2-BD59-A6C34878D82A}">
                        <a16:rowId xmlns:a16="http://schemas.microsoft.com/office/drawing/2014/main" val="2263669446"/>
                      </a:ext>
                    </a:extLst>
                  </a:tr>
                  <a:tr h="658368"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u="none" strike="noStrike" dirty="0" err="1">
                              <a:effectLst/>
                            </a:rPr>
                            <a:t>Ya</a:t>
                          </a:r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148780" t="-152778" r="-1303659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182143" t="-152778" r="-854464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243077" t="-152778" r="-636154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327941" t="-152778" r="-508088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480992" t="-152778" r="-471074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657009" t="-152778" r="-432710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637795" t="-152778" r="-264567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774380" t="-152778" r="-177686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1058000" t="-152778" r="-115000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1024779" t="-152778" r="-1770" b="-10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624221"/>
                      </a:ext>
                    </a:extLst>
                  </a:tr>
                  <a:tr h="658368">
                    <a:tc>
                      <a:txBody>
                        <a:bodyPr/>
                        <a:lstStyle/>
                        <a:p>
                          <a:pPr marL="0" marR="0" algn="just" fontAlgn="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u="none" strike="noStrike" dirty="0" err="1">
                              <a:effectLst/>
                            </a:rPr>
                            <a:t>Tidak</a:t>
                          </a:r>
                          <a:endParaRPr lang="en-US" sz="15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51435" marR="51435" marT="7144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148780" t="-252778" r="-1303659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182143" t="-252778" r="-854464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243077" t="-252778" r="-636154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327941" t="-252778" r="-508088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480992" t="-252778" r="-471074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657009" t="-252778" r="-432710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637795" t="-252778" r="-264567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774380" t="-252778" r="-177686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1058000" t="-252778" r="-115000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7144" marB="0">
                        <a:blipFill>
                          <a:blip r:embed="rId3"/>
                          <a:stretch>
                            <a:fillRect l="-1024779" t="-252778" r="-1770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5165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1159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itle 1">
                <a:extLst>
                  <a:ext uri="{FF2B5EF4-FFF2-40B4-BE49-F238E27FC236}">
                    <a16:creationId xmlns:a16="http://schemas.microsoft.com/office/drawing/2014/main" id="{F8D735FC-D7F6-6688-9072-AE38EFC68EC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28650" y="188640"/>
                <a:ext cx="6447501" cy="990600"/>
              </a:xfrm>
            </p:spPr>
            <p:txBody>
              <a:bodyPr/>
              <a:lstStyle/>
              <a:p>
                <a:r>
                  <a:rPr lang="en-US" dirty="0"/>
                  <a:t>Menghitung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2" name="Title 1">
                <a:extLst>
                  <a:ext uri="{FF2B5EF4-FFF2-40B4-BE49-F238E27FC236}">
                    <a16:creationId xmlns:a16="http://schemas.microsoft.com/office/drawing/2014/main" id="{F8D735FC-D7F6-6688-9072-AE38EFC68E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50" y="188640"/>
                <a:ext cx="6447501" cy="990600"/>
              </a:xfrm>
              <a:blipFill>
                <a:blip r:embed="rId3"/>
                <a:stretch>
                  <a:fillRect l="-236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87688D7E-02A9-D226-E4D2-6A69F21EC4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5950" y="1628800"/>
                <a:ext cx="8246530" cy="3960440"/>
              </a:xfrm>
              <a:prstGeom prst="rect">
                <a:avLst/>
              </a:prstGeom>
            </p:spPr>
            <p:txBody>
              <a:bodyPr/>
              <a:lstStyle>
                <a:lvl1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algn="just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Hitung </a:t>
                </a:r>
                <a:r>
                  <a:rPr lang="en-US" sz="1400" dirty="0" err="1">
                    <a:solidFill>
                      <a:schemeClr val="tx1">
                        <a:lumMod val="9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probabilitas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40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9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untuk</a:t>
                </a:r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9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setiap</a:t>
                </a:r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9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kelas</a:t>
                </a:r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400" dirty="0" err="1">
                    <a:solidFill>
                      <a:schemeClr val="tx1">
                        <a:lumMod val="9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yaitu</a:t>
                </a:r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1400" dirty="0">
                  <a:solidFill>
                    <a:schemeClr val="tx1">
                      <a:lumMod val="9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𝐿𝑎𝑚𝑎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𝑃𝑒𝑚𝑏𝑢𝑎𝑡𝑎𝑛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𝐿𝑎𝑚𝑎</m:t>
                          </m:r>
                        </m:e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𝐽𝑢𝑚𝑙𝑎h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𝑘𝑎𝑓𝑒𝑖𝑛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𝑠𝑒𝑑𝑎𝑛𝑔</m:t>
                          </m:r>
                        </m:e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× </m:t>
                      </m:r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h𝑎𝑟𝑔𝑎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𝑚𝑢𝑟𝑎h</m:t>
                          </m:r>
                        </m:e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729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tx1">
                      <a:lumMod val="9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𝐿𝑎𝑚𝑎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𝑃𝑒𝑚𝑏𝑢𝑎𝑡𝑎𝑛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𝐿𝑎𝑚𝑎</m:t>
                          </m:r>
                        </m:e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𝐽𝑢𝑚𝑙𝑎h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𝑘𝑎𝑓𝑒𝑖𝑛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𝑠𝑒𝑑𝑎𝑛𝑔</m:t>
                          </m:r>
                        </m:e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× </m:t>
                      </m:r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h𝑎𝑟𝑔𝑎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𝑚𝑢𝑟𝑎h</m:t>
                          </m:r>
                        </m:e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14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125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87688D7E-02A9-D226-E4D2-6A69F21EC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50" y="1628800"/>
                <a:ext cx="8246530" cy="3960440"/>
              </a:xfrm>
              <a:prstGeom prst="rect">
                <a:avLst/>
              </a:prstGeom>
              <a:blipFill>
                <a:blip r:embed="rId4"/>
                <a:stretch>
                  <a:fillRect l="-14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662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le 1">
                <a:extLst>
                  <a:ext uri="{FF2B5EF4-FFF2-40B4-BE49-F238E27FC236}">
                    <a16:creationId xmlns:a16="http://schemas.microsoft.com/office/drawing/2014/main" id="{9088E0F4-B2EE-83FF-41B3-DB37D9F0FF9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018099" y="116632"/>
                <a:ext cx="7125901" cy="994172"/>
              </a:xfrm>
            </p:spPr>
            <p:txBody>
              <a:bodyPr/>
              <a:lstStyle/>
              <a:p>
                <a:r>
                  <a:rPr lang="en-US" sz="2700" dirty="0"/>
                  <a:t>Menghitung posterior </a:t>
                </a:r>
                <a14:m>
                  <m:oMath xmlns:m="http://schemas.openxmlformats.org/officeDocument/2006/math">
                    <m:r>
                      <a:rPr lang="en-US" sz="27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7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7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en-US" sz="27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7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700" b="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7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700" b="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700" b="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2100" dirty="0"/>
              </a:p>
            </p:txBody>
          </p:sp>
        </mc:Choice>
        <mc:Fallback xmlns="">
          <p:sp>
            <p:nvSpPr>
              <p:cNvPr id="32" name="Title 1">
                <a:extLst>
                  <a:ext uri="{FF2B5EF4-FFF2-40B4-BE49-F238E27FC236}">
                    <a16:creationId xmlns:a16="http://schemas.microsoft.com/office/drawing/2014/main" id="{9088E0F4-B2EE-83FF-41B3-DB37D9F0FF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018099" y="116632"/>
                <a:ext cx="7125901" cy="994172"/>
              </a:xfrm>
              <a:blipFill>
                <a:blip r:embed="rId2"/>
                <a:stretch>
                  <a:fillRect l="-2908" b="-2085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CFD47EA7-30D3-1A0E-CC8C-9AD46438A2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3728" y="2381362"/>
                <a:ext cx="7886700" cy="994172"/>
              </a:xfrm>
              <a:prstGeom prst="rect">
                <a:avLst/>
              </a:prstGeom>
            </p:spPr>
            <p:txBody>
              <a:bodyPr/>
              <a:lstStyle>
                <a:lvl1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algn="just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135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e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𝐿𝑎𝑦𝑎𝑘</m:t>
                        </m:r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𝑌𝑎</m:t>
                        </m:r>
                      </m:e>
                    </m:d>
                    <m:r>
                      <a:rPr lang="en-US" sz="135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35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𝐿𝑎𝑦𝑎𝑘</m:t>
                        </m:r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𝑌𝑎</m:t>
                        </m:r>
                      </m:e>
                    </m:d>
                    <m:r>
                      <a:rPr lang="en-US" sz="135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40</m:t>
                        </m:r>
                      </m:num>
                      <m:den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729</m:t>
                        </m:r>
                      </m:den>
                    </m:f>
                    <m:f>
                      <m:fPr>
                        <m:ctrlP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14</m:t>
                        </m:r>
                      </m:den>
                    </m:f>
                    <m:r>
                      <a:rPr lang="en-US" sz="135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20</m:t>
                        </m:r>
                      </m:num>
                      <m:den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567</m:t>
                        </m:r>
                      </m:den>
                    </m:f>
                  </m:oMath>
                </a14:m>
                <a:endParaRPr lang="en-US" sz="1350" dirty="0">
                  <a:solidFill>
                    <a:schemeClr val="tx1">
                      <a:lumMod val="9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35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e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𝐿𝑎𝑦𝑎𝑘</m:t>
                        </m:r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𝑇𝑖𝑑𝑎𝑘</m:t>
                        </m:r>
                      </m:e>
                    </m:d>
                    <m:r>
                      <a:rPr lang="en-US" sz="135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35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𝐿𝑎𝑦𝑎𝑘</m:t>
                        </m:r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𝑇𝑖𝑑𝑎𝑘</m:t>
                        </m:r>
                      </m:e>
                    </m:d>
                    <m:r>
                      <a:rPr lang="en-US" sz="135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125</m:t>
                        </m:r>
                      </m:den>
                    </m:f>
                    <m:f>
                      <m:fPr>
                        <m:ctrlP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14</m:t>
                        </m:r>
                      </m:den>
                    </m:f>
                    <m:r>
                      <a:rPr lang="en-US" sz="135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3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175</m:t>
                        </m:r>
                      </m:den>
                    </m:f>
                  </m:oMath>
                </a14:m>
                <a:endParaRPr lang="en-US" sz="21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CFD47EA7-30D3-1A0E-CC8C-9AD46438A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2381362"/>
                <a:ext cx="7886700" cy="994172"/>
              </a:xfrm>
              <a:prstGeom prst="rect">
                <a:avLst/>
              </a:prstGeom>
              <a:blipFill>
                <a:blip r:embed="rId3"/>
                <a:stretch>
                  <a:fillRect l="-7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itle 1">
            <a:extLst>
              <a:ext uri="{FF2B5EF4-FFF2-40B4-BE49-F238E27FC236}">
                <a16:creationId xmlns:a16="http://schemas.microsoft.com/office/drawing/2014/main" id="{8A8C4570-F9A6-606A-0788-9B03E7D90E67}"/>
              </a:ext>
            </a:extLst>
          </p:cNvPr>
          <p:cNvSpPr txBox="1">
            <a:spLocks/>
          </p:cNvSpPr>
          <p:nvPr/>
        </p:nvSpPr>
        <p:spPr>
          <a:xfrm>
            <a:off x="2123728" y="3383215"/>
            <a:ext cx="6891866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err="1">
                <a:solidFill>
                  <a:schemeClr val="tx1">
                    <a:lumMod val="95000"/>
                  </a:schemeClr>
                </a:solidFill>
              </a:rPr>
              <a:t>Menentukan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</a:rPr>
              <a:t> yang </a:t>
            </a:r>
            <a:r>
              <a:rPr lang="en-US" sz="2400" b="1" dirty="0" err="1">
                <a:solidFill>
                  <a:schemeClr val="tx1">
                    <a:lumMod val="95000"/>
                  </a:schemeClr>
                </a:solidFill>
              </a:rPr>
              <a:t>terbesar</a:t>
            </a:r>
            <a:endParaRPr lang="en-US" sz="2400" b="1" dirty="0">
              <a:solidFill>
                <a:schemeClr val="tx1">
                  <a:lumMod val="9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ontent Placeholder 2">
                <a:extLst>
                  <a:ext uri="{FF2B5EF4-FFF2-40B4-BE49-F238E27FC236}">
                    <a16:creationId xmlns:a16="http://schemas.microsoft.com/office/drawing/2014/main" id="{40835F6D-7F4A-73DB-0022-1D0A5FD2B2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8503" y="4385068"/>
                <a:ext cx="7886700" cy="994172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num>
                            <m:den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567</m:t>
                              </m:r>
                            </m:den>
                          </m:f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175</m:t>
                              </m:r>
                            </m:den>
                          </m:f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100" dirty="0"/>
              </a:p>
            </p:txBody>
          </p:sp>
        </mc:Choice>
        <mc:Fallback xmlns="">
          <p:sp>
            <p:nvSpPr>
              <p:cNvPr id="35" name="Content Placeholder 2">
                <a:extLst>
                  <a:ext uri="{FF2B5EF4-FFF2-40B4-BE49-F238E27FC236}">
                    <a16:creationId xmlns:a16="http://schemas.microsoft.com/office/drawing/2014/main" id="{40835F6D-7F4A-73DB-0022-1D0A5FD2B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503" y="4385068"/>
                <a:ext cx="7886700" cy="9941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368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A821AB-CB11-3C6E-402E-31FBF52AC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269" y="2254671"/>
            <a:ext cx="6367462" cy="68125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>
                    <a:lumMod val="85000"/>
                  </a:schemeClr>
                </a:solidFill>
              </a:rPr>
              <a:t>Latihan </a:t>
            </a:r>
            <a:endParaRPr lang="en-ID" sz="36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6E2B66-C3B0-6641-1543-941DF49A7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9214" y="2999345"/>
            <a:ext cx="3570738" cy="3538615"/>
          </a:xfrm>
        </p:spPr>
        <p:txBody>
          <a:bodyPr>
            <a:normAutofit/>
          </a:bodyPr>
          <a:lstStyle/>
          <a:p>
            <a:r>
              <a:rPr lang="en-US" sz="1800" dirty="0" err="1"/>
              <a:t>Berdasarkan</a:t>
            </a:r>
            <a:r>
              <a:rPr lang="en-US" sz="1800" dirty="0"/>
              <a:t> data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tabel</a:t>
            </a:r>
            <a:r>
              <a:rPr lang="en-US" sz="1800" dirty="0"/>
              <a:t> </a:t>
            </a:r>
            <a:r>
              <a:rPr lang="en-US" sz="1800" dirty="0" err="1"/>
              <a:t>tersebut</a:t>
            </a:r>
            <a:r>
              <a:rPr lang="en-US" sz="1800" dirty="0"/>
              <a:t>. </a:t>
            </a:r>
            <a:r>
              <a:rPr lang="en-US" sz="1800" dirty="0" err="1"/>
              <a:t>Tentukan</a:t>
            </a:r>
            <a:r>
              <a:rPr lang="en-US" sz="1800" dirty="0"/>
              <a:t> </a:t>
            </a:r>
            <a:r>
              <a:rPr lang="en-US" sz="1800" dirty="0" err="1"/>
              <a:t>apakah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mobil</a:t>
            </a:r>
            <a:r>
              <a:rPr lang="en-US" sz="1800" dirty="0"/>
              <a:t> </a:t>
            </a:r>
            <a:r>
              <a:rPr lang="en-US" sz="1800" dirty="0" err="1"/>
              <a:t>Kuning</a:t>
            </a:r>
            <a:r>
              <a:rPr lang="en-US" sz="1800" dirty="0"/>
              <a:t> </a:t>
            </a:r>
            <a:r>
              <a:rPr lang="en-US" sz="1800" dirty="0" err="1"/>
              <a:t>jenis</a:t>
            </a:r>
            <a:r>
              <a:rPr lang="en-US" sz="1800" dirty="0"/>
              <a:t> Sport yang import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tercuri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tidak</a:t>
            </a:r>
            <a:endParaRPr lang="en-ID" sz="18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53C5C8E-2D4F-AA00-BB0D-5FBD32614BE3}"/>
              </a:ext>
            </a:extLst>
          </p:cNvPr>
          <p:cNvGrpSpPr/>
          <p:nvPr/>
        </p:nvGrpSpPr>
        <p:grpSpPr>
          <a:xfrm>
            <a:off x="4139952" y="456114"/>
            <a:ext cx="4733925" cy="5945771"/>
            <a:chOff x="1979712" y="1208645"/>
            <a:chExt cx="4733925" cy="5945771"/>
          </a:xfrm>
        </p:grpSpPr>
        <p:pic>
          <p:nvPicPr>
            <p:cNvPr id="1026" name="Picture 2" descr="b">
              <a:extLst>
                <a:ext uri="{FF2B5EF4-FFF2-40B4-BE49-F238E27FC236}">
                  <a16:creationId xmlns:a16="http://schemas.microsoft.com/office/drawing/2014/main" id="{A9F4FC92-3076-D87C-B36E-C1D3E1D32B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712" y="1208645"/>
              <a:ext cx="4733925" cy="3581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b">
              <a:extLst>
                <a:ext uri="{FF2B5EF4-FFF2-40B4-BE49-F238E27FC236}">
                  <a16:creationId xmlns:a16="http://schemas.microsoft.com/office/drawing/2014/main" id="{4F3D294A-0050-36AB-C892-CDCDF4105B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169"/>
            <a:stretch/>
          </p:blipFill>
          <p:spPr bwMode="auto">
            <a:xfrm>
              <a:off x="1979712" y="4725144"/>
              <a:ext cx="4733925" cy="2429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48460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2220</TotalTime>
  <Words>1502</Words>
  <Application>Microsoft Office PowerPoint</Application>
  <PresentationFormat>On-screen Show (4:3)</PresentationFormat>
  <Paragraphs>370</Paragraphs>
  <Slides>27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Arial</vt:lpstr>
      <vt:lpstr>Arial Nova Light</vt:lpstr>
      <vt:lpstr>Bookman Old Style</vt:lpstr>
      <vt:lpstr>Calibri</vt:lpstr>
      <vt:lpstr>Cambria Math</vt:lpstr>
      <vt:lpstr>Gill Sans MT</vt:lpstr>
      <vt:lpstr>Symbol</vt:lpstr>
      <vt:lpstr>Times New Roman</vt:lpstr>
      <vt:lpstr>Verdana</vt:lpstr>
      <vt:lpstr>Wingdings</vt:lpstr>
      <vt:lpstr>Wingdings 3</vt:lpstr>
      <vt:lpstr>Origin</vt:lpstr>
      <vt:lpstr>UNCERTAINTY (dealing)</vt:lpstr>
      <vt:lpstr>INTRO</vt:lpstr>
      <vt:lpstr>Uncertainty</vt:lpstr>
      <vt:lpstr>Methods for handling uncertainty</vt:lpstr>
      <vt:lpstr>SUMBER </vt:lpstr>
      <vt:lpstr>SUMBER (2)</vt:lpstr>
      <vt:lpstr>REASONING DALAM KETIDAKPASTIAN</vt:lpstr>
      <vt:lpstr>CARA MENGATASI</vt:lpstr>
      <vt:lpstr>DASAR TEORI PROBABILITAS</vt:lpstr>
      <vt:lpstr>COMPOUND (campuran) PROBABILITIES</vt:lpstr>
      <vt:lpstr>CONDITIONAL PROBABILITY</vt:lpstr>
      <vt:lpstr>INDEPENDENCE</vt:lpstr>
      <vt:lpstr>PENDEKATAN BAYESIAN</vt:lpstr>
      <vt:lpstr>NAÏVE BAYES</vt:lpstr>
      <vt:lpstr>Naïve Bayes data kategorial</vt:lpstr>
      <vt:lpstr>PowerPoint Presentation</vt:lpstr>
      <vt:lpstr>CONTOH </vt:lpstr>
      <vt:lpstr>PowerPoint Presentation</vt:lpstr>
      <vt:lpstr>PowerPoint Presentation</vt:lpstr>
      <vt:lpstr>Kondisi yang ditanyakan</vt:lpstr>
      <vt:lpstr>Menentukan nilai prior</vt:lpstr>
      <vt:lpstr>Membuat table kontingensi</vt:lpstr>
      <vt:lpstr>Menghitung P(b_i│A_i )</vt:lpstr>
      <vt:lpstr>Hasil Pelatihan</vt:lpstr>
      <vt:lpstr>Menghitung P(B│A_i )</vt:lpstr>
      <vt:lpstr>Menghitung posterior P(B│A_i )P(A_i )</vt:lpstr>
      <vt:lpstr>Latihan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UNCERTAINTY (dealing)</dc:title>
  <dc:creator>indi</dc:creator>
  <cp:lastModifiedBy>ASUS</cp:lastModifiedBy>
  <cp:revision>29</cp:revision>
  <dcterms:created xsi:type="dcterms:W3CDTF">2013-11-05T21:13:13Z</dcterms:created>
  <dcterms:modified xsi:type="dcterms:W3CDTF">2024-06-21T03:48:56Z</dcterms:modified>
</cp:coreProperties>
</file>