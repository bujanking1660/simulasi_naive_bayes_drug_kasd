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3" r:id="rId2"/>
    <p:sldId id="307" r:id="rId3"/>
    <p:sldId id="282" r:id="rId4"/>
    <p:sldId id="296" r:id="rId5"/>
    <p:sldId id="311" r:id="rId6"/>
    <p:sldId id="298" r:id="rId7"/>
    <p:sldId id="308" r:id="rId8"/>
    <p:sldId id="295" r:id="rId9"/>
    <p:sldId id="269" r:id="rId10"/>
    <p:sldId id="270" r:id="rId11"/>
    <p:sldId id="272" r:id="rId12"/>
    <p:sldId id="3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2295D-6551-4BB8-B8DE-8A3E14DD026B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0EFA2-BF36-4EAD-AF53-071DEA5458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122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5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82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59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48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3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D573-92BD-0DCD-805E-FA273ADE3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9C7B1-5C44-9FE1-CF3E-0A1B32553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1B1AE-289A-6314-4913-22E37CD1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F33B2-931F-0B8A-B53F-DEE17816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62EC7-FA6A-8EBC-2043-2D767F59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351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789A-46AF-8DAE-8AF8-9E2828E9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8A0A3-C3DA-AFED-7E94-C83B6D6F0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CC99E-50F9-56CB-BFEF-EB8F4971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3695-1AF1-1CFB-6381-776B12E1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160AC-BA5B-2E54-589A-444F904E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197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A47B-9A21-335F-057E-98DE9976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BE49D-83DB-F6EF-1619-F40CFC8EB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C9883-1E30-02D8-2AE5-A63DD7CF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A647A-588A-BCB3-4CE5-C6C08864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A2A33-074F-C065-7F1B-3570C731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276-3161-FA4D-513A-62176317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7B59-F4E1-85DC-0225-9ABEC9928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80563-8054-105B-A4EC-B36956B82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D3C7F-F54B-0081-94AC-48839929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357E4-A28F-7EB4-3F10-5D93FC08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80FA7-C281-6CF3-C5F6-797663E5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070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627A-E12A-0610-F338-1A3F761C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0E0B6-C9FB-32B1-58C0-F17C9AFA7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4F4A4-9661-8B55-0312-855E93A01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8C2FF-FA7B-16DE-71CE-3BF829F0F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0DDC9-709B-0611-5C57-9D7E186CE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50FF0-E189-C67F-85A4-1227F3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EF889-D4AA-A26F-D273-669F9C3A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ED714-239E-52AA-CB33-EE06756D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839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865D-F1D4-81F7-0362-ABFEF684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8D768-CAC4-F00A-9479-4057ED13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580D2-E004-5014-2031-AA735CFD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E0323-7C94-ECB5-FE7E-6EF1C2EC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95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30400-91E1-086F-954E-58B61267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F4465-A7C3-E561-64C8-2203BF44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B34BB-839F-B0D9-BEAD-84061982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823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BE11-F6B1-F395-D93B-26021E0F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3BCA0-20DC-5934-1FC7-4B6069A4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98745-3413-38B0-8796-5E37F4F63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32362-71B0-3771-04A9-895C9CA8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3CB3D-1D46-D694-2F1E-93E746C6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BF77A-AB3B-7E36-008F-786BDBDF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638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EB75-2A62-AA59-5A8C-D7E35119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6D853-6A09-ECE6-0132-61C727D8B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1C438-0122-4BA3-257C-CBA735BC6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4B4C2-170B-12F0-7C88-25AF5D70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BC734-086C-0DB0-7D93-C85D440F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2A0F2-8B92-DB0D-D152-071D2205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944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96FA-CDC0-BD9C-913E-E216A1DD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E35DC-7326-A008-77D3-A6241CCF6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8590E-7240-B435-B650-AE9368B9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D5D36-324E-5DFF-1EFC-31C538DC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C7D1F-E91E-5E05-1503-81034EAB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085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2077FD-A566-4BAF-D695-0EBFBE9D2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5C959-A738-ED15-7042-1B2ADB8FD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0A31-773F-F8BF-7693-3AFF7AC95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A51B-27AF-804F-34DF-CC837508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01C78-E1D9-E232-DA58-324CFE13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018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6784" y="731520"/>
            <a:ext cx="7439243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86784" y="2567535"/>
            <a:ext cx="3566160" cy="1077871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6784" y="3645407"/>
            <a:ext cx="3566160" cy="2743361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857877" y="2567535"/>
            <a:ext cx="3568150" cy="1077871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857877" y="3645407"/>
            <a:ext cx="3568150" cy="2743361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502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736168-42FB-B175-878F-1D92D461293F}"/>
              </a:ext>
            </a:extLst>
          </p:cNvPr>
          <p:cNvGrpSpPr/>
          <p:nvPr userDrawn="1"/>
        </p:nvGrpSpPr>
        <p:grpSpPr>
          <a:xfrm>
            <a:off x="8761800" y="1"/>
            <a:ext cx="3430200" cy="6858000"/>
            <a:chOff x="0" y="1"/>
            <a:chExt cx="3430200" cy="6858000"/>
          </a:xfrm>
        </p:grpSpPr>
        <p:sp>
          <p:nvSpPr>
            <p:cNvPr id="2" name="Freeform: Shape 22">
              <a:extLst>
                <a:ext uri="{FF2B5EF4-FFF2-40B4-BE49-F238E27FC236}">
                  <a16:creationId xmlns:a16="http://schemas.microsoft.com/office/drawing/2014/main" id="{6EE64E38-E907-48C4-BA19-D68AFECDF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3427336"/>
              <a:ext cx="3430200" cy="3430665"/>
            </a:xfrm>
            <a:custGeom>
              <a:avLst/>
              <a:gdLst>
                <a:gd name="connsiteX0" fmla="*/ 0 w 3430200"/>
                <a:gd name="connsiteY0" fmla="*/ 0 h 3430665"/>
                <a:gd name="connsiteX1" fmla="*/ 3430200 w 3430200"/>
                <a:gd name="connsiteY1" fmla="*/ 0 h 3430665"/>
                <a:gd name="connsiteX2" fmla="*/ 3430200 w 3430200"/>
                <a:gd name="connsiteY2" fmla="*/ 3430665 h 3430665"/>
                <a:gd name="connsiteX3" fmla="*/ 0 w 3430200"/>
                <a:gd name="connsiteY3" fmla="*/ 3430665 h 343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0200" h="3430665">
                  <a:moveTo>
                    <a:pt x="0" y="0"/>
                  </a:moveTo>
                  <a:lnTo>
                    <a:pt x="3430200" y="0"/>
                  </a:lnTo>
                  <a:lnTo>
                    <a:pt x="3430200" y="3430665"/>
                  </a:lnTo>
                  <a:lnTo>
                    <a:pt x="0" y="343066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19">
              <a:extLst>
                <a:ext uri="{FF2B5EF4-FFF2-40B4-BE49-F238E27FC236}">
                  <a16:creationId xmlns:a16="http://schemas.microsoft.com/office/drawing/2014/main" id="{FAE76847-A4FB-E2C1-6FEF-4ECAB5AD0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3427336"/>
              <a:ext cx="3430200" cy="3430665"/>
            </a:xfrm>
            <a:custGeom>
              <a:avLst/>
              <a:gdLst>
                <a:gd name="connsiteX0" fmla="*/ 3430200 w 3430200"/>
                <a:gd name="connsiteY0" fmla="*/ 0 h 3430665"/>
                <a:gd name="connsiteX1" fmla="*/ 3430200 w 3430200"/>
                <a:gd name="connsiteY1" fmla="*/ 3430665 h 3430665"/>
                <a:gd name="connsiteX2" fmla="*/ 0 w 3430200"/>
                <a:gd name="connsiteY2" fmla="*/ 3430665 h 3430665"/>
                <a:gd name="connsiteX3" fmla="*/ 0 w 3430200"/>
                <a:gd name="connsiteY3" fmla="*/ 3417531 h 343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0200" h="3430665">
                  <a:moveTo>
                    <a:pt x="3430200" y="0"/>
                  </a:moveTo>
                  <a:lnTo>
                    <a:pt x="3430200" y="3430665"/>
                  </a:lnTo>
                  <a:lnTo>
                    <a:pt x="0" y="3430665"/>
                  </a:lnTo>
                  <a:lnTo>
                    <a:pt x="0" y="3417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F7981226-45F7-E6E8-D9AE-C91719B27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3423785" cy="3437345"/>
            </a:xfrm>
            <a:custGeom>
              <a:avLst/>
              <a:gdLst>
                <a:gd name="connsiteX0" fmla="*/ 0 w 3423785"/>
                <a:gd name="connsiteY0" fmla="*/ 0 h 3437345"/>
                <a:gd name="connsiteX1" fmla="*/ 3423785 w 3423785"/>
                <a:gd name="connsiteY1" fmla="*/ 0 h 3437345"/>
                <a:gd name="connsiteX2" fmla="*/ 3423785 w 3423785"/>
                <a:gd name="connsiteY2" fmla="*/ 3437345 h 3437345"/>
                <a:gd name="connsiteX3" fmla="*/ 0 w 3423785"/>
                <a:gd name="connsiteY3" fmla="*/ 3437345 h 3437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3785" h="3437345">
                  <a:moveTo>
                    <a:pt x="0" y="0"/>
                  </a:moveTo>
                  <a:lnTo>
                    <a:pt x="3423785" y="0"/>
                  </a:lnTo>
                  <a:lnTo>
                    <a:pt x="3423785" y="3437345"/>
                  </a:lnTo>
                  <a:lnTo>
                    <a:pt x="0" y="34373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16">
              <a:extLst>
                <a:ext uri="{FF2B5EF4-FFF2-40B4-BE49-F238E27FC236}">
                  <a16:creationId xmlns:a16="http://schemas.microsoft.com/office/drawing/2014/main" id="{9687CB02-B871-D558-D885-751314001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869"/>
              <a:ext cx="3423785" cy="3436477"/>
            </a:xfrm>
            <a:custGeom>
              <a:avLst/>
              <a:gdLst>
                <a:gd name="connsiteX0" fmla="*/ 0 w 3423785"/>
                <a:gd name="connsiteY0" fmla="*/ 0 h 3436477"/>
                <a:gd name="connsiteX1" fmla="*/ 3423785 w 3423785"/>
                <a:gd name="connsiteY1" fmla="*/ 3436477 h 3436477"/>
                <a:gd name="connsiteX2" fmla="*/ 0 w 3423785"/>
                <a:gd name="connsiteY2" fmla="*/ 3436477 h 3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3785" h="3436477">
                  <a:moveTo>
                    <a:pt x="0" y="0"/>
                  </a:moveTo>
                  <a:lnTo>
                    <a:pt x="3423785" y="3436477"/>
                  </a:lnTo>
                  <a:lnTo>
                    <a:pt x="0" y="34364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7439243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2567535"/>
            <a:ext cx="3566160" cy="1260753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" y="3828288"/>
            <a:ext cx="3566160" cy="2560480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82159" y="2567535"/>
            <a:ext cx="3568150" cy="1260753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782159" y="3828288"/>
            <a:ext cx="3568150" cy="2560480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5443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6784" y="731520"/>
            <a:ext cx="7439243" cy="1828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6784" y="2733473"/>
            <a:ext cx="3566160" cy="3655296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857877" y="2733473"/>
            <a:ext cx="3568150" cy="3655296"/>
          </a:xfrm>
        </p:spPr>
        <p:txBody>
          <a:bodyPr lIns="45720" rIns="45720" bIns="45720">
            <a:normAutofit/>
          </a:bodyPr>
          <a:lstStyle>
            <a:lvl1pPr>
              <a:spcBef>
                <a:spcPts val="1000"/>
              </a:spcBef>
              <a:defRPr sz="1400"/>
            </a:lvl1pPr>
            <a:lvl2pPr>
              <a:spcBef>
                <a:spcPts val="1000"/>
              </a:spcBef>
              <a:defRPr sz="1200"/>
            </a:lvl2pPr>
            <a:lvl3pPr>
              <a:spcBef>
                <a:spcPts val="1000"/>
              </a:spcBef>
              <a:defRPr sz="1100"/>
            </a:lvl3pPr>
            <a:lvl4pPr>
              <a:spcBef>
                <a:spcPts val="1000"/>
              </a:spcBef>
              <a:defRPr sz="1100"/>
            </a:lvl4pPr>
            <a:lvl5pPr>
              <a:spcBef>
                <a:spcPts val="1000"/>
              </a:spcBef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3983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8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937" y="731520"/>
            <a:ext cx="10665089" cy="134999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71016" y="2131212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573354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949363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1016" y="4537631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97977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35578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8288" y="2131212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573354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949363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28288" y="4537631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97977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35578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85560" y="2131212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573354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949363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5560" y="4537631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97977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35578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42832" y="2131212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573354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949363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42832" y="4537631"/>
            <a:ext cx="2029968" cy="1442142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97977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35578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67254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41121" y="1344404"/>
            <a:ext cx="6984906" cy="256044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33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347664"/>
            <a:ext cx="768096" cy="1882471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120" y="3977196"/>
            <a:ext cx="4971237" cy="864804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511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29DED-B253-A16E-DD85-A25A14D7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0AC0-C2CF-F781-CB34-E0BD32ECF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EF409-5474-6BBC-A385-47DA3DEB1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8AD21-EBB2-4013-A813-71D6E67921AC}" type="datetimeFigureOut">
              <a:rPr lang="en-ID" smtClean="0"/>
              <a:t>16/12/2023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F4547-E0C3-6F3E-BBA2-D07B6E6CC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F326B-7730-2D08-FE75-8618C0981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8B6EF-A627-4959-BAFA-6F7F5F3D0E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955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1657-5736-7BE7-BEF3-5A165932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/>
              <a:t>KMEANS</a:t>
            </a:r>
            <a:endParaRPr lang="en-ID" sz="7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95F3-C8A8-9E31-B3D3-BE3ED24DBD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A6C81-E75E-6A55-D6E3-5738BFA4DD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ID" dirty="0"/>
          </a:p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ABA2C-6FC9-9AE5-6ADB-CB9CC0854F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6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E8188-6C0A-9C77-511F-82FCEF010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08B66-18F4-B50B-59A8-822F2F542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2" descr="Why Unsupervised Machine Learning is the Future of Cybersecurity –  TechNative">
            <a:extLst>
              <a:ext uri="{FF2B5EF4-FFF2-40B4-BE49-F238E27FC236}">
                <a16:creationId xmlns:a16="http://schemas.microsoft.com/office/drawing/2014/main" id="{EBB8F668-46B5-308C-49FF-0F006D6AD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60" y="602958"/>
            <a:ext cx="9874522" cy="56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D3F9-7730-BCF3-C369-EFB635CB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3DD23-605E-8185-3935-4BBC1ED29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9BD5C-CC59-63B6-95EF-4D2D40DE86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01903-1F39-BAD3-6116-CE9E42245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F5E47-A54B-5340-BF6A-4FFEE4350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4" name="Picture 2" descr="Anomaly Detection Service - Developer Documentation">
            <a:extLst>
              <a:ext uri="{FF2B5EF4-FFF2-40B4-BE49-F238E27FC236}">
                <a16:creationId xmlns:a16="http://schemas.microsoft.com/office/drawing/2014/main" id="{5FE5F4C1-DB5B-441B-850C-A0E4B0FEE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58" y="836224"/>
            <a:ext cx="8093203" cy="4941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99B037-8497-8AD6-428B-81669D86840A}"/>
              </a:ext>
            </a:extLst>
          </p:cNvPr>
          <p:cNvSpPr txBox="1"/>
          <p:nvPr/>
        </p:nvSpPr>
        <p:spPr>
          <a:xfrm>
            <a:off x="914400" y="5823744"/>
            <a:ext cx="6012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https://developer.mindsphere.io/apis/analytics-anomalydetection/api-anomalydetection-overview.html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5914D5-3B19-DB89-B9D3-F7BD586D6140}"/>
              </a:ext>
            </a:extLst>
          </p:cNvPr>
          <p:cNvSpPr txBox="1">
            <a:spLocks/>
          </p:cNvSpPr>
          <p:nvPr/>
        </p:nvSpPr>
        <p:spPr>
          <a:xfrm>
            <a:off x="3554361" y="1252209"/>
            <a:ext cx="8288669" cy="49963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cap="all" baseline="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Tentukan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k (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banyak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kluster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diinginkan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) dan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titik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pusat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(centroid)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awal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sebanyak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Setiap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objek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bukan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centroid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dihitung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jarak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euclidien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distance)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terhadap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setiap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centroid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Setiap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objek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dimasukkan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kluster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terdekat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berdasarkan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ukuran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jarak</a:t>
            </a:r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Setiap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centroid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kluster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diperbaharui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berdasarkan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rata-rata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dari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objek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ada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didalam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kluster</a:t>
            </a:r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Ulangi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langkah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2-4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hingga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semua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centroid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konvergen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dan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stabil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dimana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semua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centroid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dihasilkan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pada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iterasi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saat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ini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sama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persis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beda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tipis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dengan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toleransi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tertentu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diharapkan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)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dengan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semua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centoid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dihasilkan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pada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iterasi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sebelumnya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dan sum square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eror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(SSE)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stabil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tidak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mengalami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perubahan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cap="none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berarti</a:t>
            </a:r>
            <a:r>
              <a:rPr lang="en-US" sz="2400" cap="none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91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E65EDCF-823A-B03F-7CB6-106497F0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85" y="487061"/>
            <a:ext cx="8596668" cy="566057"/>
          </a:xfrm>
        </p:spPr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2193FA6-263C-382B-CB0D-C46FAC03D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592911"/>
              </p:ext>
            </p:extLst>
          </p:nvPr>
        </p:nvGraphicFramePr>
        <p:xfrm>
          <a:off x="838200" y="1727424"/>
          <a:ext cx="5709613" cy="4811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33651">
                  <a:extLst>
                    <a:ext uri="{9D8B030D-6E8A-4147-A177-3AD203B41FA5}">
                      <a16:colId xmlns:a16="http://schemas.microsoft.com/office/drawing/2014/main" val="3582376185"/>
                    </a:ext>
                  </a:extLst>
                </a:gridCol>
                <a:gridCol w="1364641">
                  <a:extLst>
                    <a:ext uri="{9D8B030D-6E8A-4147-A177-3AD203B41FA5}">
                      <a16:colId xmlns:a16="http://schemas.microsoft.com/office/drawing/2014/main" val="667048400"/>
                    </a:ext>
                  </a:extLst>
                </a:gridCol>
                <a:gridCol w="1134268">
                  <a:extLst>
                    <a:ext uri="{9D8B030D-6E8A-4147-A177-3AD203B41FA5}">
                      <a16:colId xmlns:a16="http://schemas.microsoft.com/office/drawing/2014/main" val="3734175130"/>
                    </a:ext>
                  </a:extLst>
                </a:gridCol>
                <a:gridCol w="1484257">
                  <a:extLst>
                    <a:ext uri="{9D8B030D-6E8A-4147-A177-3AD203B41FA5}">
                      <a16:colId xmlns:a16="http://schemas.microsoft.com/office/drawing/2014/main" val="4015863510"/>
                    </a:ext>
                  </a:extLst>
                </a:gridCol>
                <a:gridCol w="1092796">
                  <a:extLst>
                    <a:ext uri="{9D8B030D-6E8A-4147-A177-3AD203B41FA5}">
                      <a16:colId xmlns:a16="http://schemas.microsoft.com/office/drawing/2014/main" val="1336641006"/>
                    </a:ext>
                  </a:extLst>
                </a:gridCol>
              </a:tblGrid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No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Color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Size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Act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Age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2207201418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small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stretch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adult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3926789079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small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stretch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adult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1648338175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small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stretch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child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167457105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small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stretch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child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1962578272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large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Dip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adult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2188613180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large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Dip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adult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3795819645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large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Dip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child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1241279876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Yellow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large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Dip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child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2071346071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Purple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small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stretch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adult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3580898688"/>
                  </a:ext>
                </a:extLst>
              </a:tr>
              <a:tr h="43740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Purple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small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Dip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Child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19206240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DE95A48-5AE4-D8AB-0B52-D967A301E897}"/>
              </a:ext>
            </a:extLst>
          </p:cNvPr>
          <p:cNvSpPr txBox="1"/>
          <p:nvPr/>
        </p:nvSpPr>
        <p:spPr>
          <a:xfrm>
            <a:off x="662585" y="1150672"/>
            <a:ext cx="3685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2 </a:t>
            </a:r>
            <a:r>
              <a:rPr lang="en-US" sz="2400" dirty="0" err="1"/>
              <a:t>kelompok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937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DC7B1-6103-D365-60AC-A3B1EEAE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C92A6E-28EA-3D95-7A9F-5176E9D39384}"/>
              </a:ext>
            </a:extLst>
          </p:cNvPr>
          <p:cNvGraphicFramePr/>
          <p:nvPr/>
        </p:nvGraphicFramePr>
        <p:xfrm>
          <a:off x="2640279" y="1981200"/>
          <a:ext cx="5564910" cy="42132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12982">
                  <a:extLst>
                    <a:ext uri="{9D8B030D-6E8A-4147-A177-3AD203B41FA5}">
                      <a16:colId xmlns:a16="http://schemas.microsoft.com/office/drawing/2014/main" val="4075884064"/>
                    </a:ext>
                  </a:extLst>
                </a:gridCol>
                <a:gridCol w="1112982">
                  <a:extLst>
                    <a:ext uri="{9D8B030D-6E8A-4147-A177-3AD203B41FA5}">
                      <a16:colId xmlns:a16="http://schemas.microsoft.com/office/drawing/2014/main" val="3606407784"/>
                    </a:ext>
                  </a:extLst>
                </a:gridCol>
                <a:gridCol w="1112982">
                  <a:extLst>
                    <a:ext uri="{9D8B030D-6E8A-4147-A177-3AD203B41FA5}">
                      <a16:colId xmlns:a16="http://schemas.microsoft.com/office/drawing/2014/main" val="3875518180"/>
                    </a:ext>
                  </a:extLst>
                </a:gridCol>
                <a:gridCol w="1112982">
                  <a:extLst>
                    <a:ext uri="{9D8B030D-6E8A-4147-A177-3AD203B41FA5}">
                      <a16:colId xmlns:a16="http://schemas.microsoft.com/office/drawing/2014/main" val="3399413028"/>
                    </a:ext>
                  </a:extLst>
                </a:gridCol>
                <a:gridCol w="1112982">
                  <a:extLst>
                    <a:ext uri="{9D8B030D-6E8A-4147-A177-3AD203B41FA5}">
                      <a16:colId xmlns:a16="http://schemas.microsoft.com/office/drawing/2014/main" val="1269691028"/>
                    </a:ext>
                  </a:extLst>
                </a:gridCol>
              </a:tblGrid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No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Color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Size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Act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Age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195902150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250246022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3636497718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4045002913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953561778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619311031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3119205564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3885158960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218577946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4086767757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b"/>
                </a:tc>
                <a:extLst>
                  <a:ext uri="{0D108BD9-81ED-4DB2-BD59-A6C34878D82A}">
                    <a16:rowId xmlns:a16="http://schemas.microsoft.com/office/drawing/2014/main" val="1306178710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2E4B9B42-B5AC-47F0-CC7C-FE367A0D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0343"/>
          </a:xfrm>
        </p:spPr>
        <p:txBody>
          <a:bodyPr/>
          <a:lstStyle/>
          <a:p>
            <a:r>
              <a:rPr lang="en-US" dirty="0" err="1"/>
              <a:t>Konversi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508687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C319358-E392-B70D-F85A-0447F43F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5" y="1275218"/>
            <a:ext cx="8596668" cy="1320800"/>
          </a:xfrm>
        </p:spPr>
        <p:txBody>
          <a:bodyPr/>
          <a:lstStyle/>
          <a:p>
            <a:r>
              <a:rPr lang="en-US" dirty="0" err="1"/>
              <a:t>Inisialisasi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CD1EC95-A0DD-FF93-AE2C-0880E2971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5332" y="2596018"/>
                <a:ext cx="8204782" cy="3880773"/>
              </a:xfrm>
              <a:prstGeom prst="rect">
                <a:avLst/>
              </a:prstGeom>
            </p:spPr>
            <p:txBody>
              <a:bodyPr/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K = 2 (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soal</a:t>
                </a:r>
                <a:r>
                  <a:rPr lang="en-US" dirty="0"/>
                  <a:t>)</a:t>
                </a:r>
              </a:p>
              <a:p>
                <a:r>
                  <a:rPr lang="en-US" dirty="0" err="1"/>
                  <a:t>Pilih</a:t>
                </a:r>
                <a:r>
                  <a:rPr lang="en-US" dirty="0"/>
                  <a:t> </a:t>
                </a: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acak</a:t>
                </a:r>
                <a:r>
                  <a:rPr lang="en-US" dirty="0"/>
                  <a:t>, </a:t>
                </a:r>
                <a:r>
                  <a:rPr lang="en-US" dirty="0" err="1"/>
                  <a:t>misal</a:t>
                </a:r>
                <a:r>
                  <a:rPr lang="en-US" dirty="0"/>
                  <a:t> </a:t>
                </a:r>
                <a:r>
                  <a:rPr lang="en-US" dirty="0" err="1"/>
                  <a:t>terpilih</a:t>
                </a:r>
                <a:r>
                  <a:rPr lang="en-US" dirty="0"/>
                  <a:t> data ke-1 dan data ke-7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/>
                  <a:t>centoid</a:t>
                </a:r>
                <a:endParaRPr lang="en-US" dirty="0"/>
              </a:p>
              <a:p>
                <a:r>
                  <a:rPr lang="en-US" dirty="0"/>
                  <a:t>Cari </a:t>
                </a:r>
                <a:r>
                  <a:rPr lang="en-US" dirty="0" err="1"/>
                  <a:t>jarak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data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centroidnya</a:t>
                </a:r>
                <a:r>
                  <a:rPr lang="en-US" dirty="0"/>
                  <a:t>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…+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CD1EC95-A0DD-FF93-AE2C-0880E2971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32" y="2596018"/>
                <a:ext cx="8204782" cy="3880773"/>
              </a:xfrm>
              <a:prstGeom prst="rect">
                <a:avLst/>
              </a:prstGeom>
              <a:blipFill>
                <a:blip r:embed="rId3"/>
                <a:stretch>
                  <a:fillRect l="-1337" t="-17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591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>
            <a:extLst>
              <a:ext uri="{FF2B5EF4-FFF2-40B4-BE49-F238E27FC236}">
                <a16:creationId xmlns:a16="http://schemas.microsoft.com/office/drawing/2014/main" id="{F8D735FC-D7F6-6688-9072-AE38EFC6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962" y="609600"/>
            <a:ext cx="8596668" cy="1320800"/>
          </a:xfrm>
        </p:spPr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jarak</a:t>
            </a:r>
            <a:endParaRPr lang="en-US" dirty="0"/>
          </a:p>
        </p:txBody>
      </p:sp>
      <p:graphicFrame>
        <p:nvGraphicFramePr>
          <p:cNvPr id="103" name="Content Placeholder 4">
            <a:extLst>
              <a:ext uri="{FF2B5EF4-FFF2-40B4-BE49-F238E27FC236}">
                <a16:creationId xmlns:a16="http://schemas.microsoft.com/office/drawing/2014/main" id="{B6392D7A-2159-F47E-E062-51E3A2AEE8D8}"/>
              </a:ext>
            </a:extLst>
          </p:cNvPr>
          <p:cNvGraphicFramePr>
            <a:graphicFrameLocks/>
          </p:cNvGraphicFramePr>
          <p:nvPr/>
        </p:nvGraphicFramePr>
        <p:xfrm>
          <a:off x="2073020" y="1882457"/>
          <a:ext cx="7590552" cy="4648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318">
                  <a:extLst>
                    <a:ext uri="{9D8B030D-6E8A-4147-A177-3AD203B41FA5}">
                      <a16:colId xmlns:a16="http://schemas.microsoft.com/office/drawing/2014/main" val="1224578841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98508731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294068915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912198978"/>
                    </a:ext>
                  </a:extLst>
                </a:gridCol>
              </a:tblGrid>
              <a:tr h="6773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Jarak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centroid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Jarak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centroid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020170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1.732051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6425796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1.732051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2517261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4599596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791145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8913063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3889177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1.732051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4440818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1.732051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7903896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9651668"/>
                  </a:ext>
                </a:extLst>
              </a:tr>
              <a:tr h="3971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1.732051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3959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66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5679-97E8-4316-AC05-A12D26BC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Menentukan</a:t>
            </a:r>
            <a:r>
              <a:rPr lang="en-US" dirty="0"/>
              <a:t> centroid </a:t>
            </a:r>
            <a:r>
              <a:rPr lang="en-US" dirty="0" err="1"/>
              <a:t>baru</a:t>
            </a:r>
            <a:r>
              <a:rPr lang="en-US" dirty="0"/>
              <a:t> cluster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2E5B-1A68-49AB-AE12-230C97C8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44048" cy="3880773"/>
          </a:xfrm>
        </p:spPr>
        <p:txBody>
          <a:bodyPr/>
          <a:lstStyle/>
          <a:p>
            <a:r>
              <a:rPr lang="en-US" dirty="0"/>
              <a:t>Centroid 1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D37F70-7F9C-4C54-A7D5-618E8E3EA970}"/>
              </a:ext>
            </a:extLst>
          </p:cNvPr>
          <p:cNvGraphicFramePr>
            <a:graphicFrameLocks noGrp="1"/>
          </p:cNvGraphicFramePr>
          <p:nvPr/>
        </p:nvGraphicFramePr>
        <p:xfrm>
          <a:off x="2030476" y="2789439"/>
          <a:ext cx="8128000" cy="325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56653450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741103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15831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74713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84754296"/>
                    </a:ext>
                  </a:extLst>
                </a:gridCol>
              </a:tblGrid>
              <a:tr h="46039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Keterangan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Color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Size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Act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Age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4181235516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091397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6435583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0302330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3754987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9548940"/>
                  </a:ext>
                </a:extLst>
              </a:tr>
              <a:tr h="465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Centroid </a:t>
                      </a:r>
                      <a:r>
                        <a:rPr lang="en-US" dirty="0" err="1"/>
                        <a:t>baru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4418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77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481C-46C0-44AA-B3B0-5DD1CFD3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Menentukan</a:t>
            </a:r>
            <a:r>
              <a:rPr lang="en-US" dirty="0"/>
              <a:t> centroid </a:t>
            </a:r>
            <a:r>
              <a:rPr lang="en-US" dirty="0" err="1"/>
              <a:t>baru</a:t>
            </a:r>
            <a:r>
              <a:rPr lang="en-US" dirty="0"/>
              <a:t> cluster 2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7AFA6BC-1124-4C96-BD35-7E55202335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6321" y="2160588"/>
          <a:ext cx="8596310" cy="319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2781821027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43884348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14625991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70617333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156511167"/>
                    </a:ext>
                  </a:extLst>
                </a:gridCol>
              </a:tblGrid>
              <a:tr h="3970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Keterangan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Color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Size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Act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Age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601" marR="5601" marT="5601" marB="0" anchor="ctr"/>
                </a:tc>
                <a:extLst>
                  <a:ext uri="{0D108BD9-81ED-4DB2-BD59-A6C34878D82A}">
                    <a16:rowId xmlns:a16="http://schemas.microsoft.com/office/drawing/2014/main" val="2673225713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5992464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2052974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881666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0678230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7596809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Cemtroid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1178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06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D4FD-0133-4A0D-8CD7-04E4AD45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jarak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915D77-3AC7-40A5-9405-F858594B4D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99199" y="1733550"/>
          <a:ext cx="7590554" cy="4819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042">
                  <a:extLst>
                    <a:ext uri="{9D8B030D-6E8A-4147-A177-3AD203B41FA5}">
                      <a16:colId xmlns:a16="http://schemas.microsoft.com/office/drawing/2014/main" val="1224578841"/>
                    </a:ext>
                  </a:extLst>
                </a:gridCol>
                <a:gridCol w="1674878">
                  <a:extLst>
                    <a:ext uri="{9D8B030D-6E8A-4147-A177-3AD203B41FA5}">
                      <a16:colId xmlns:a16="http://schemas.microsoft.com/office/drawing/2014/main" val="2985087319"/>
                    </a:ext>
                  </a:extLst>
                </a:gridCol>
                <a:gridCol w="1674878">
                  <a:extLst>
                    <a:ext uri="{9D8B030D-6E8A-4147-A177-3AD203B41FA5}">
                      <a16:colId xmlns:a16="http://schemas.microsoft.com/office/drawing/2014/main" val="3294068915"/>
                    </a:ext>
                  </a:extLst>
                </a:gridCol>
                <a:gridCol w="1674878">
                  <a:extLst>
                    <a:ext uri="{9D8B030D-6E8A-4147-A177-3AD203B41FA5}">
                      <a16:colId xmlns:a16="http://schemas.microsoft.com/office/drawing/2014/main" val="912198978"/>
                    </a:ext>
                  </a:extLst>
                </a:gridCol>
                <a:gridCol w="1674878">
                  <a:extLst>
                    <a:ext uri="{9D8B030D-6E8A-4147-A177-3AD203B41FA5}">
                      <a16:colId xmlns:a16="http://schemas.microsoft.com/office/drawing/2014/main" val="1596815965"/>
                    </a:ext>
                  </a:extLst>
                </a:gridCol>
              </a:tblGrid>
              <a:tr h="7022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Jarak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centroid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Jarak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dengan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centroid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Keterangan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020170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0.447214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1.428286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6425796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0.447214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1.428286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2517261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0.632456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1.356466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4599596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0.632456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1.356466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791145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1.48324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0.663325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8913063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1.48324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0.663325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3889177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1.549193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0.489898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4440818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1.549193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0.489898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7903896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0.894427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1.624808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9651668"/>
                  </a:ext>
                </a:extLst>
              </a:tr>
              <a:tr h="4117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1.414214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3959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40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7420-4A8E-DBFD-F192-5E0952EF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latihan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6298E-67E6-9F85-F49E-E712A273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1D4EA-EE91-6624-2CA4-647C1DBAF6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3 cluster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7D0D7-B17D-F968-1A7B-E7B73490C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97" t="38519" r="78347" b="33624"/>
          <a:stretch/>
        </p:blipFill>
        <p:spPr>
          <a:xfrm>
            <a:off x="4363064" y="2315497"/>
            <a:ext cx="4122372" cy="386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92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483</Words>
  <Application>Microsoft Office PowerPoint</Application>
  <PresentationFormat>Widescreen</PresentationFormat>
  <Paragraphs>306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 Math</vt:lpstr>
      <vt:lpstr>Office Theme</vt:lpstr>
      <vt:lpstr>KMEANS</vt:lpstr>
      <vt:lpstr>PowerPoint Presentation</vt:lpstr>
      <vt:lpstr>PowerPoint Presentation</vt:lpstr>
      <vt:lpstr>PowerPoint Presentation</vt:lpstr>
      <vt:lpstr>Contoh</vt:lpstr>
      <vt:lpstr>Konversi data</vt:lpstr>
      <vt:lpstr>Inisialisasi</vt:lpstr>
      <vt:lpstr>Hasil perhitungan jarak</vt:lpstr>
      <vt:lpstr>Menentukan centroid baru cluster 1</vt:lpstr>
      <vt:lpstr>Menentukan centroid baru cluster 2</vt:lpstr>
      <vt:lpstr>Hasil perhitungan jarak</vt:lpstr>
      <vt:lpstr>latihan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KMEANS</dc:title>
  <dc:creator>ASUS</dc:creator>
  <cp:lastModifiedBy>ASUS</cp:lastModifiedBy>
  <cp:revision>2</cp:revision>
  <dcterms:created xsi:type="dcterms:W3CDTF">2023-12-11T02:07:25Z</dcterms:created>
  <dcterms:modified xsi:type="dcterms:W3CDTF">2023-12-16T01:16:24Z</dcterms:modified>
</cp:coreProperties>
</file>